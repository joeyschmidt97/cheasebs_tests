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a8e104bf1349de" /><Relationship Type="http://schemas.openxmlformats.org/officeDocument/2006/relationships/extended-properties" Target="/docProps/app.xml" Id="Rcdee4ca7d3ad4ace" /><Relationship Type="http://schemas.openxmlformats.org/officeDocument/2006/relationships/officeDocument" Target="/ppt/presentation.xml" Id="R2a79e6d9a8fc40b5" /></Relationships>
</file>

<file path=ppt/presentation.xml><?xml version="1.0" encoding="utf-8"?>
<p:presentation xmlns:p="http://schemas.openxmlformats.org/presentationml/2006/main">
  <p:sldMasterIdLst>
    <p:sldMasterId xmlns:r="http://schemas.openxmlformats.org/officeDocument/2006/relationships" id="2147483648" r:id="Rd61aa8f6d3ba4f40"/>
  </p:sldMasterIdLst>
  <p:notesMasterIdLst>
    <p:notesMasterId xmlns:r="http://schemas.openxmlformats.org/officeDocument/2006/relationships" r:id="R4b0a0c4c735641fd"/>
  </p:notesMasterIdLst>
  <p:sldIdLst>
    <p:sldId xmlns:r="http://schemas.openxmlformats.org/officeDocument/2006/relationships" id="256" r:id="R3ac2ae2db60c498e"/>
    <p:sldId xmlns:r="http://schemas.openxmlformats.org/officeDocument/2006/relationships" id="257" r:id="R35901a6c508d449c"/>
    <p:sldId xmlns:r="http://schemas.openxmlformats.org/officeDocument/2006/relationships" id="258" r:id="Ra327f20a4f114d23"/>
    <p:sldId xmlns:r="http://schemas.openxmlformats.org/officeDocument/2006/relationships" id="259" r:id="Rb427b5093f014f18"/>
    <p:sldId xmlns:r="http://schemas.openxmlformats.org/officeDocument/2006/relationships" id="260" r:id="R710abcd4a3b84b52"/>
    <p:sldId xmlns:r="http://schemas.openxmlformats.org/officeDocument/2006/relationships" id="261" r:id="R54ca88a826bf42dd"/>
    <p:sldId xmlns:r="http://schemas.openxmlformats.org/officeDocument/2006/relationships" id="262" r:id="Rb217cd9ad3854742"/>
    <p:sldId xmlns:r="http://schemas.openxmlformats.org/officeDocument/2006/relationships" id="263" r:id="Rb79f427e37d74df5"/>
    <p:sldId xmlns:r="http://schemas.openxmlformats.org/officeDocument/2006/relationships" id="264" r:id="Ra920147f2e20443c"/>
    <p:sldId xmlns:r="http://schemas.openxmlformats.org/officeDocument/2006/relationships" id="265" r:id="R43071218c38646e7"/>
    <p:sldId xmlns:r="http://schemas.openxmlformats.org/officeDocument/2006/relationships" id="266" r:id="R58032e3b68674c0b"/>
    <p:sldId xmlns:r="http://schemas.openxmlformats.org/officeDocument/2006/relationships" id="267" r:id="R512933352e684a99"/>
    <p:sldId xmlns:r="http://schemas.openxmlformats.org/officeDocument/2006/relationships" id="268" r:id="R98178e4236f342ff"/>
    <p:sldId xmlns:r="http://schemas.openxmlformats.org/officeDocument/2006/relationships" id="269" r:id="R463cb61ed2644f4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532432c3084835" /><Relationship Type="http://schemas.openxmlformats.org/officeDocument/2006/relationships/slideMaster" Target="/ppt/slideMasters/slideMaster1.xml" Id="Rd61aa8f6d3ba4f40" /><Relationship Type="http://schemas.openxmlformats.org/officeDocument/2006/relationships/notesMaster" Target="/ppt/notesMasters/notesMaster1.xml" Id="R4b0a0c4c735641fd" /><Relationship Type="http://schemas.openxmlformats.org/officeDocument/2006/relationships/presProps" Target="/ppt/presProps.xml" Id="Rb3ade0673273469b" /><Relationship Type="http://schemas.openxmlformats.org/officeDocument/2006/relationships/tableStyles" Target="/ppt/tableStyles.xml" Id="R44f1708a7ab64503" /><Relationship Type="http://schemas.openxmlformats.org/officeDocument/2006/relationships/slide" Target="/ppt/slides/slide1.xml" Id="R3ac2ae2db60c498e" /><Relationship Type="http://schemas.openxmlformats.org/officeDocument/2006/relationships/slide" Target="/ppt/slides/slide2.xml" Id="R35901a6c508d449c" /><Relationship Type="http://schemas.openxmlformats.org/officeDocument/2006/relationships/slide" Target="/ppt/slides/slide3.xml" Id="Ra327f20a4f114d23" /><Relationship Type="http://schemas.openxmlformats.org/officeDocument/2006/relationships/slide" Target="/ppt/slides/slide4.xml" Id="Rb427b5093f014f18" /><Relationship Type="http://schemas.openxmlformats.org/officeDocument/2006/relationships/slide" Target="/ppt/slides/slide5.xml" Id="R710abcd4a3b84b52" /><Relationship Type="http://schemas.openxmlformats.org/officeDocument/2006/relationships/slide" Target="/ppt/slides/slide6.xml" Id="R54ca88a826bf42dd" /><Relationship Type="http://schemas.openxmlformats.org/officeDocument/2006/relationships/slide" Target="/ppt/slides/slide7.xml" Id="Rb217cd9ad3854742" /><Relationship Type="http://schemas.openxmlformats.org/officeDocument/2006/relationships/slide" Target="/ppt/slides/slide8.xml" Id="Rb79f427e37d74df5" /><Relationship Type="http://schemas.openxmlformats.org/officeDocument/2006/relationships/slide" Target="/ppt/slides/slide9.xml" Id="Ra920147f2e20443c" /><Relationship Type="http://schemas.openxmlformats.org/officeDocument/2006/relationships/slide" Target="/ppt/slides/slide10.xml" Id="R43071218c38646e7" /><Relationship Type="http://schemas.openxmlformats.org/officeDocument/2006/relationships/slide" Target="/ppt/slides/slide11.xml" Id="R58032e3b68674c0b" /><Relationship Type="http://schemas.openxmlformats.org/officeDocument/2006/relationships/slide" Target="/ppt/slides/slide12.xml" Id="R512933352e684a99" /><Relationship Type="http://schemas.openxmlformats.org/officeDocument/2006/relationships/slide" Target="/ppt/slides/slide13.xml" Id="R98178e4236f342ff" /><Relationship Type="http://schemas.openxmlformats.org/officeDocument/2006/relationships/slide" Target="/ppt/slides/slide14.xml" Id="R463cb61ed2644f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1a2b15257949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e96084ad2b4299" /><Relationship Type="http://schemas.openxmlformats.org/officeDocument/2006/relationships/notesMaster" Target="/ppt/notesMasters/notesMaster1.xml" Id="R5cc196212ee84c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83aba574e84bc9" /><Relationship Type="http://schemas.openxmlformats.org/officeDocument/2006/relationships/notesMaster" Target="/ppt/notesMasters/notesMaster1.xml" Id="Rb8ad525e852d4c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3b5120d896497b" /><Relationship Type="http://schemas.openxmlformats.org/officeDocument/2006/relationships/notesMaster" Target="/ppt/notesMasters/notesMaster1.xml" Id="R2d76d8757f374f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49b2aa00cc4a08" /><Relationship Type="http://schemas.openxmlformats.org/officeDocument/2006/relationships/notesMaster" Target="/ppt/notesMasters/notesMaster1.xml" Id="R73f128c8bce542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146333c2e544bf" /><Relationship Type="http://schemas.openxmlformats.org/officeDocument/2006/relationships/notesMaster" Target="/ppt/notesMasters/notesMaster1.xml" Id="R7533cf84a08d42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72dcbd33214139" /><Relationship Type="http://schemas.openxmlformats.org/officeDocument/2006/relationships/notesMaster" Target="/ppt/notesMasters/notesMaster1.xml" Id="Rdd4b1c7bdebf4c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dc03b6f7fa4047" /><Relationship Type="http://schemas.openxmlformats.org/officeDocument/2006/relationships/notesMaster" Target="/ppt/notesMasters/notesMaster1.xml" Id="R9c327c1b68ac4e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cd60aefc4f4674" /><Relationship Type="http://schemas.openxmlformats.org/officeDocument/2006/relationships/notesMaster" Target="/ppt/notesMasters/notesMaster1.xml" Id="Rfc88e2eccaf446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207a58552545ef" /><Relationship Type="http://schemas.openxmlformats.org/officeDocument/2006/relationships/notesMaster" Target="/ppt/notesMasters/notesMaster1.xml" Id="R4c25a70a3efc4a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b15dbf5b204122" /><Relationship Type="http://schemas.openxmlformats.org/officeDocument/2006/relationships/notesMaster" Target="/ppt/notesMasters/notesMaster1.xml" Id="Rf6e7f38e16ea4e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f81d0c0ff1415c" /><Relationship Type="http://schemas.openxmlformats.org/officeDocument/2006/relationships/notesMaster" Target="/ppt/notesMasters/notesMaster1.xml" Id="R0f9fcdc1e61244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c9f2d94fe9428b" /><Relationship Type="http://schemas.openxmlformats.org/officeDocument/2006/relationships/notesMaster" Target="/ppt/notesMasters/notesMaster1.xml" Id="R3dfd233a95b44f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4995a043b34c66" /><Relationship Type="http://schemas.openxmlformats.org/officeDocument/2006/relationships/notesMaster" Target="/ppt/notesMasters/notesMaster1.xml" Id="R974d351759ee43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ff3911fc744b68" /><Relationship Type="http://schemas.openxmlformats.org/officeDocument/2006/relationships/notesMaster" Target="/ppt/notesMasters/notesMaster1.xml" Id="R9f927803b7c840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"Transformations and error traces",</a:t>
            </a:r>
          </a:p>
          <a:p xmlns:a="http://schemas.openxmlformats.org/drawingml/2006/main">
            <a:r>
              <a:t>  "variant": {</a:t>
            </a:r>
          </a:p>
          <a:p xmlns:a="http://schemas.openxmlformats.org/drawingml/2006/main">
            <a:r>
              <a:t>    "id": "n1w2",</a:t>
            </a:r>
          </a:p>
          <a:p xmlns:a="http://schemas.openxmlformats.org/drawingml/2006/main">
            <a:r>
              <a:t>    "title": "129015   NCSCAL = 1*, warmup = 2",</a:t>
            </a:r>
          </a:p>
          <a:p xmlns:a="http://schemas.openxmlformats.org/drawingml/2006/main">
            <a:r>
              <a:t>    "color": "#0072B2",</a:t>
            </a:r>
          </a:p>
          <a:p xmlns:a="http://schemas.openxmlformats.org/drawingml/2006/main">
            <a:r>
              <a:t>    "root": "C:\\Users\\joesc\\git\\NSTXU_lithium_study\\reshape_convergence\\runs_smallscale\\129015_20260901_13-45-25",</a:t>
            </a:r>
          </a:p>
          <a:p xmlns:a="http://schemas.openxmlformats.org/drawingml/2006/main">
            <a:r>
              <a:t>    "original_profile_image": "C:\\Users\\joesc\\git\\NSTXU_lithium_study\\reshape_convergence\\runs_smallscale\\cheasebs_comparison_129015.png",</a:t>
            </a:r>
          </a:p>
          <a:p xmlns:a="http://schemas.openxmlformats.org/drawingml/2006/main">
            <a:r>
              <a:t>    "n": 1,</a:t>
            </a:r>
          </a:p>
          <a:p xmlns:a="http://schemas.openxmlformats.org/drawingml/2006/main">
            <a:r>
              <a:t>    "w": 2,</a:t>
            </a:r>
          </a:p>
          <a:p xmlns:a="http://schemas.openxmlformats.org/drawingml/2006/main">
            <a:r>
              <a:t>    "count": 8,</a:t>
            </a:r>
          </a:p>
          <a:p xmlns:a="http://schemas.openxmlformats.org/drawingml/2006/main">
            <a:r>
              <a:t>    "settings": {</a:t>
            </a:r>
          </a:p>
          <a:p xmlns:a="http://schemas.openxmlformats.org/drawingml/2006/main">
            <a:r>
              <a:t>      "bootstrap_mix": 0.1,</a:t>
            </a:r>
          </a:p>
          <a:p xmlns:a="http://schemas.openxmlformats.org/drawingml/2006/main">
            <a:r>
              <a:t>      "istar_mix": 0.02,</a:t>
            </a:r>
          </a:p>
          <a:p xmlns:a="http://schemas.openxmlformats.org/drawingml/2006/main">
            <a:r>
              <a:t>      "tol_ip_rel": 0.02,</a:t>
            </a:r>
          </a:p>
          <a:p xmlns:a="http://schemas.openxmlformats.org/drawingml/2006/main">
            <a:r>
              <a:t>      "tol_bs": 0.001,</a:t>
            </a:r>
          </a:p>
          <a:p xmlns:a="http://schemas.openxmlformats.org/drawingml/2006/main">
            <a:r>
              <a:t>      "tol_q": 0.001,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"C:\\Users\\joesc\\git\\NSTXU_lithium_study\\reshape_convergence\\runs_smallscale\\129015_20260901_13-45-25\\ne_ped_scale_0.900",</a:t>
            </a:r>
          </a:p>
          <a:p xmlns:a="http://schemas.openxmlformats.org/drawingml/2006/main">
            <a:r>
              <a:t>        "axis": "ne_ped_scale",</a:t>
            </a:r>
          </a:p>
          <a:p xmlns:a="http://schemas.openxmlformats.org/drawingml/2006/main">
            <a:r>
              <a:t>        "scale": 0.9,</a:t>
            </a:r>
          </a:p>
          <a:p xmlns:a="http://schemas.openxmlformats.org/drawingml/2006/main">
            <a:r>
              <a:t>        "iterations": 50,</a:t>
            </a:r>
          </a:p>
          <a:p xmlns:a="http://schemas.openxmlformats.org/drawingml/2006/main">
            <a:r>
              <a:t>        "converged": false,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0.8737707233815425,</a:t>
            </a:r>
          </a:p>
          <a:p xmlns:a="http://schemas.openxmlformats.org/drawingml/2006/main">
            <a:r>
              <a:t>            "q": 6.95001531427286,</a:t>
            </a:r>
          </a:p>
          <a:p xmlns:a="http://schemas.openxmlformats.org/drawingml/2006/main">
            <a:r>
              <a:t>            "shear": 3.9038841198128553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0.8718006813575321,</a:t>
            </a:r>
          </a:p>
          <a:p xmlns:a="http://schemas.openxmlformats.org/drawingml/2006/main">
            <a:r>
              <a:t>            "q": 8.078234850971622,</a:t>
            </a:r>
          </a:p>
          <a:p xmlns:a="http://schemas.openxmlformats.org/drawingml/2006/main">
            <a:r>
              <a:t>            "shear": 3.9796957605729535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0.9090776458461888,</a:t>
            </a:r>
          </a:p>
          <a:p xmlns:a="http://schemas.openxmlformats.org/drawingml/2006/main">
            <a:r>
              <a:t>            "q": 10.74064362756761,</a:t>
            </a:r>
          </a:p>
          <a:p xmlns:a="http://schemas.openxmlformats.org/drawingml/2006/main">
            <a:r>
              <a:t>            "shear": 4.347767881084886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"C:\\Users\\joesc\\git\\NSTXU_lithium_study\\reshape_convergence\\runs_smallscale\\129015_20260901_13-45-25\\ne_ped_scale_0.950",</a:t>
            </a:r>
          </a:p>
          <a:p xmlns:a="http://schemas.openxmlformats.org/drawingml/2006/main">
            <a:r>
              <a:t>        "axis": "ne_ped_scale",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0.9195264805947838,</a:t>
            </a:r>
          </a:p>
          <a:p xmlns:a="http://schemas.openxmlformats.org/drawingml/2006/main">
            <a:r>
              <a:t>            "q": 6.923709793183211,</a:t>
            </a:r>
          </a:p>
          <a:p xmlns:a="http://schemas.openxmlformats.org/drawingml/2006/main">
            <a:r>
              <a:t>            "shear": 3.8881768481702927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0.9188496792617544,</a:t>
            </a:r>
          </a:p>
          <a:p xmlns:a="http://schemas.openxmlformats.org/drawingml/2006/main">
            <a:r>
              <a:t>            "q": 8.046703917045958,</a:t>
            </a:r>
          </a:p>
          <a:p xmlns:a="http://schemas.openxmlformats.org/drawingml/2006/main">
            <a:r>
              <a:t>            "shear": 3.9963397692815947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0.9523079312159084,</a:t>
            </a:r>
          </a:p>
          <a:p xmlns:a="http://schemas.openxmlformats.org/drawingml/2006/main">
            <a:r>
              <a:t>            "q": 10.700703152281449,</a:t>
            </a:r>
          </a:p>
          <a:p xmlns:a="http://schemas.openxmlformats.org/drawingml/2006/main">
            <a:r>
              <a:t>            "shear": 4.444037192946588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"C:\\Users\\joesc\\git\\NSTXU_lithium_study\\reshape_convergence\\runs_smallscale\\129015_20260901_13-45-25\\ne_ped_scale_1.050",</a:t>
            </a:r>
          </a:p>
          <a:p xmlns:a="http://schemas.openxmlformats.org/drawingml/2006/main">
            <a:r>
              <a:t>        "axis": "ne_ped_scale",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1.0163954232559167,</a:t>
            </a:r>
          </a:p>
          <a:p xmlns:a="http://schemas.openxmlformats.org/drawingml/2006/main">
            <a:r>
              <a:t>            "q": 6.883792193532971,</a:t>
            </a:r>
          </a:p>
          <a:p xmlns:a="http://schemas.openxmlformats.org/drawingml/2006/main">
            <a:r>
              <a:t>            "shear": 3.8996908409677657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1.015312297344869,</a:t>
            </a:r>
          </a:p>
          <a:p xmlns:a="http://schemas.openxmlformats.org/drawingml/2006/main">
            <a:r>
              <a:t>            "q": 8.004719912978015,</a:t>
            </a:r>
          </a:p>
          <a:p xmlns:a="http://schemas.openxmlformats.org/drawingml/2006/main">
            <a:r>
              <a:t>            "shear": 4.011403517964364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1.0307701764314061,</a:t>
            </a:r>
          </a:p>
          <a:p xmlns:a="http://schemas.openxmlformats.org/drawingml/2006/main">
            <a:r>
              <a:t>            "q": 10.67366545168767,</a:t>
            </a:r>
          </a:p>
          <a:p xmlns:a="http://schemas.openxmlformats.org/drawingml/2006/main">
            <a:r>
              <a:t>            "shear": 4.508654198445528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"C:\\Users\\joesc\\git\\NSTXU_lithium_study\\reshape_convergence\\runs_smallscale\\129015_20260901_13-45-25\\ne_ped_scale_1.100",</a:t>
            </a:r>
          </a:p>
          <a:p xmlns:a="http://schemas.openxmlformats.org/drawingml/2006/main">
            <a:r>
              <a:t>        "axis": "ne_ped_scale",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1.0657348935006479,</a:t>
            </a:r>
          </a:p>
          <a:p xmlns:a="http://schemas.openxmlformats.org/drawingml/2006/main">
            <a:r>
              <a:t>            "q": 6.86373116882132,</a:t>
            </a:r>
          </a:p>
          <a:p xmlns:a="http://schemas.openxmlformats.org/drawingml/2006/main">
            <a:r>
              <a:t>            "shear": 3.9057435283714956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1.064434046203744,</a:t>
            </a:r>
          </a:p>
          <a:p xmlns:a="http://schemas.openxmlformats.org/drawingml/2006/main">
            <a:r>
              <a:t>            "q": 7.983728980830336,</a:t>
            </a:r>
          </a:p>
          <a:p xmlns:a="http://schemas.openxmlformats.org/drawingml/2006/main">
            <a:r>
              <a:t>            "shear": 4.019779388029534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1.070763847460663,</a:t>
            </a:r>
          </a:p>
          <a:p xmlns:a="http://schemas.openxmlformats.org/drawingml/2006/main">
            <a:r>
              <a:t>            "q": 10.657342136259878,</a:t>
            </a:r>
          </a:p>
          <a:p xmlns:a="http://schemas.openxmlformats.org/drawingml/2006/main">
            <a:r>
              <a:t>            "shear": 4.533213407970466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"C:\\Users\\joesc\\git\\NSTXU_lithium_study\\reshape_convergence\\runs_smallscale\\129015_20260901_13-45-25\\Te_ped_scale_0.900",</a:t>
            </a:r>
          </a:p>
          <a:p xmlns:a="http://schemas.openxmlformats.org/drawingml/2006/main">
            <a:r>
              <a:t>        "axis": "Te_ped_scale",</a:t>
            </a:r>
          </a:p>
          <a:p xmlns:a="http://schemas.openxmlformats.org/drawingml/2006/main">
            <a:r>
              <a:t>        "scale": 0.9,</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0.9071130160025593,</a:t>
            </a:r>
          </a:p>
          <a:p xmlns:a="http://schemas.openxmlformats.org/drawingml/2006/main">
            <a:r>
              <a:t>            "q": 6.945863523976527,</a:t>
            </a:r>
          </a:p>
          <a:p xmlns:a="http://schemas.openxmlformats.org/drawingml/2006/main">
            <a:r>
              <a:t>            "shear": 3.897790307365167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0.901212715153962,</a:t>
            </a:r>
          </a:p>
          <a:p xmlns:a="http://schemas.openxmlformats.org/drawingml/2006/main">
            <a:r>
              <a:t>            "q": 8.073559374350113,</a:t>
            </a:r>
          </a:p>
          <a:p xmlns:a="http://schemas.openxmlformats.org/drawingml/2006/main">
            <a:r>
              <a:t>            "shear": 3.9873299704436085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0.9561632156366846,</a:t>
            </a:r>
          </a:p>
          <a:p xmlns:a="http://schemas.openxmlformats.org/drawingml/2006/main">
            <a:r>
              <a:t>            "q": 10.727051559775711,</a:t>
            </a:r>
          </a:p>
          <a:p xmlns:a="http://schemas.openxmlformats.org/drawingml/2006/main">
            <a:r>
              <a:t>            "shear": 4.440131525793459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"C:\\Users\\joesc\\git\\NSTXU_lithium_study\\reshape_convergence\\runs_smallscale\\129015_20260901_13-45-25\\Te_ped_scale_0.950",</a:t>
            </a:r>
          </a:p>
          <a:p xmlns:a="http://schemas.openxmlformats.org/drawingml/2006/main">
            <a:r>
              <a:t>        "axis": "Te_ped_scale",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0.9385804571654079,</a:t>
            </a:r>
          </a:p>
          <a:p xmlns:a="http://schemas.openxmlformats.org/drawingml/2006/main">
            <a:r>
              <a:t>            "q": 6.932143754339909,</a:t>
            </a:r>
          </a:p>
          <a:p xmlns:a="http://schemas.openxmlformats.org/drawingml/2006/main">
            <a:r>
              <a:t>            "shear": 3.9016715297913236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0.9319845846740067,</a:t>
            </a:r>
          </a:p>
          <a:p xmlns:a="http://schemas.openxmlformats.org/drawingml/2006/main">
            <a:r>
              <a:t>            "q": 8.059442130735734,</a:t>
            </a:r>
          </a:p>
          <a:p xmlns:a="http://schemas.openxmlformats.org/drawingml/2006/main">
            <a:r>
              <a:t>            "shear": 3.9960859842442504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0.9739748859617795,</a:t>
            </a:r>
          </a:p>
          <a:p xmlns:a="http://schemas.openxmlformats.org/drawingml/2006/main">
            <a:r>
              <a:t>            "q": 10.718417853437295,</a:t>
            </a:r>
          </a:p>
          <a:p xmlns:a="http://schemas.openxmlformats.org/drawingml/2006/main">
            <a:r>
              <a:t>            "shear": 4.450458203306853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"C:\\Users\\joesc\\git\\NSTXU_lithium_study\\reshape_convergence\\runs_smallscale\\129015_20260901_13-45-25\\Te_ped_scale_1.050",</a:t>
            </a:r>
          </a:p>
          <a:p xmlns:a="http://schemas.openxmlformats.org/drawingml/2006/main">
            <a:r>
              <a:t>        "axis": "Te_ped_scale",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1.0018769834999302,</a:t>
            </a:r>
          </a:p>
          <a:p xmlns:a="http://schemas.openxmlformats.org/drawingml/2006/main">
            <a:r>
              <a:t>            "q": 6.9046075189469915,</a:t>
            </a:r>
          </a:p>
          <a:p xmlns:a="http://schemas.openxmlformats.org/drawingml/2006/main">
            <a:r>
              <a:t>            "shear": 3.9091413962806563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0.9938301689449511,</a:t>
            </a:r>
          </a:p>
          <a:p xmlns:a="http://schemas.openxmlformats.org/drawingml/2006/main">
            <a:r>
              <a:t>            "q": 8.030920893040648,</a:t>
            </a:r>
          </a:p>
          <a:p xmlns:a="http://schemas.openxmlformats.org/drawingml/2006/main">
            <a:r>
              <a:t>            "shear": 4.012834871926607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1.0090345558828286,</a:t>
            </a:r>
          </a:p>
          <a:p xmlns:a="http://schemas.openxmlformats.org/drawingml/2006/main">
            <a:r>
              <a:t>            "q": 10.706545232173186,</a:t>
            </a:r>
          </a:p>
          <a:p xmlns:a="http://schemas.openxmlformats.org/drawingml/2006/main">
            <a:r>
              <a:t>            "shear": 4.499196841648801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"C:\\Users\\joesc\\git\\NSTXU_lithium_study\\reshape_convergence\\runs_smallscale\\129015_20260901_13-45-25\\Te_ped_scale_1.100",</a:t>
            </a:r>
          </a:p>
          <a:p xmlns:a="http://schemas.openxmlformats.org/drawingml/2006/main">
            <a:r>
              <a:t>        "axis": "Te_ped_scale",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1.0337746729773722,</a:t>
            </a:r>
          </a:p>
          <a:p xmlns:a="http://schemas.openxmlformats.org/drawingml/2006/main">
            <a:r>
              <a:t>            "q": 6.8909255977354915,</a:t>
            </a:r>
          </a:p>
          <a:p xmlns:a="http://schemas.openxmlformats.org/drawingml/2006/main">
            <a:r>
              <a:t>            "shear": 3.913077985421005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1.0250177626362305,</a:t>
            </a:r>
          </a:p>
          <a:p xmlns:a="http://schemas.openxmlformats.org/drawingml/2006/main">
            <a:r>
              <a:t>            "q": 8.016856892693108,</a:t>
            </a:r>
          </a:p>
          <a:p xmlns:a="http://schemas.openxmlformats.org/drawingml/2006/main">
            <a:r>
              <a:t>            "shear": 4.021799688840177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1.0270062751725637,</a:t>
            </a:r>
          </a:p>
          <a:p xmlns:a="http://schemas.openxmlformats.org/drawingml/2006/main">
            <a:r>
              <a:t>            "q": 10.697872858725443,</a:t>
            </a:r>
          </a:p>
          <a:p xmlns:a="http://schemas.openxmlformats.org/drawingml/2006/main">
            <a:r>
              <a:t>            "shear": 4.511048441528468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"mtanh_n1w2"</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"Iteration counts and pressure chains",</a:t>
            </a:r>
          </a:p>
          <a:p xmlns:a="http://schemas.openxmlformats.org/drawingml/2006/main">
            <a:r>
              <a:t>  "variant": {</a:t>
            </a:r>
          </a:p>
          <a:p xmlns:a="http://schemas.openxmlformats.org/drawingml/2006/main">
            <a:r>
              <a:t>    "id": "n1w2",</a:t>
            </a:r>
          </a:p>
          <a:p xmlns:a="http://schemas.openxmlformats.org/drawingml/2006/main">
            <a:r>
              <a:t>    "title": "129015   NCSCAL = 1*, warmup = 2",</a:t>
            </a:r>
          </a:p>
          <a:p xmlns:a="http://schemas.openxmlformats.org/drawingml/2006/main">
            <a:r>
              <a:t>    "color": "#0072B2",</a:t>
            </a:r>
          </a:p>
          <a:p xmlns:a="http://schemas.openxmlformats.org/drawingml/2006/main">
            <a:r>
              <a:t>    "root": "C:\\Users\\joesc\\git\\NSTXU_lithium_study\\reshape_convergence\\runs_smallscale\\129015_20260901_13-45-25",</a:t>
            </a:r>
          </a:p>
          <a:p xmlns:a="http://schemas.openxmlformats.org/drawingml/2006/main">
            <a:r>
              <a:t>    "original_profile_image": "C:\\Users\\joesc\\git\\NSTXU_lithium_study\\reshape_convergence\\runs_smallscale\\cheasebs_comparison_129015.png",</a:t>
            </a:r>
          </a:p>
          <a:p xmlns:a="http://schemas.openxmlformats.org/drawingml/2006/main">
            <a:r>
              <a:t>    "n": 1,</a:t>
            </a:r>
          </a:p>
          <a:p xmlns:a="http://schemas.openxmlformats.org/drawingml/2006/main">
            <a:r>
              <a:t>    "w": 2,</a:t>
            </a:r>
          </a:p>
          <a:p xmlns:a="http://schemas.openxmlformats.org/drawingml/2006/main">
            <a:r>
              <a:t>    "count": 8,</a:t>
            </a:r>
          </a:p>
          <a:p xmlns:a="http://schemas.openxmlformats.org/drawingml/2006/main">
            <a:r>
              <a:t>    "settings": {</a:t>
            </a:r>
          </a:p>
          <a:p xmlns:a="http://schemas.openxmlformats.org/drawingml/2006/main">
            <a:r>
              <a:t>      "bootstrap_mix": 0.1,</a:t>
            </a:r>
          </a:p>
          <a:p xmlns:a="http://schemas.openxmlformats.org/drawingml/2006/main">
            <a:r>
              <a:t>      "istar_mix": 0.02,</a:t>
            </a:r>
          </a:p>
          <a:p xmlns:a="http://schemas.openxmlformats.org/drawingml/2006/main">
            <a:r>
              <a:t>      "tol_ip_rel": 0.02,</a:t>
            </a:r>
          </a:p>
          <a:p xmlns:a="http://schemas.openxmlformats.org/drawingml/2006/main">
            <a:r>
              <a:t>      "tol_bs": 0.001,</a:t>
            </a:r>
          </a:p>
          <a:p xmlns:a="http://schemas.openxmlformats.org/drawingml/2006/main">
            <a:r>
              <a:t>      "tol_q": 0.001,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"C:\\Users\\joesc\\git\\NSTXU_lithium_study\\reshape_convergence\\runs_smallscale\\129015_20260901_13-45-25\\ne_ped_scale_0.900",</a:t>
            </a:r>
          </a:p>
          <a:p xmlns:a="http://schemas.openxmlformats.org/drawingml/2006/main">
            <a:r>
              <a:t>        "axis": "ne_ped_scale",</a:t>
            </a:r>
          </a:p>
          <a:p xmlns:a="http://schemas.openxmlformats.org/drawingml/2006/main">
            <a:r>
              <a:t>        "scale": 0.9,</a:t>
            </a:r>
          </a:p>
          <a:p xmlns:a="http://schemas.openxmlformats.org/drawingml/2006/main">
            <a:r>
              <a:t>        "iterations": 50,</a:t>
            </a:r>
          </a:p>
          <a:p xmlns:a="http://schemas.openxmlformats.org/drawingml/2006/main">
            <a:r>
              <a:t>        "converged": false,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0.8737707233815425,</a:t>
            </a:r>
          </a:p>
          <a:p xmlns:a="http://schemas.openxmlformats.org/drawingml/2006/main">
            <a:r>
              <a:t>            "q": 6.95001531427286,</a:t>
            </a:r>
          </a:p>
          <a:p xmlns:a="http://schemas.openxmlformats.org/drawingml/2006/main">
            <a:r>
              <a:t>            "shear": 3.9038841198128553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0.8718006813575321,</a:t>
            </a:r>
          </a:p>
          <a:p xmlns:a="http://schemas.openxmlformats.org/drawingml/2006/main">
            <a:r>
              <a:t>            "q": 8.078234850971622,</a:t>
            </a:r>
          </a:p>
          <a:p xmlns:a="http://schemas.openxmlformats.org/drawingml/2006/main">
            <a:r>
              <a:t>            "shear": 3.9796957605729535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0.9090776458461888,</a:t>
            </a:r>
          </a:p>
          <a:p xmlns:a="http://schemas.openxmlformats.org/drawingml/2006/main">
            <a:r>
              <a:t>            "q": 10.74064362756761,</a:t>
            </a:r>
          </a:p>
          <a:p xmlns:a="http://schemas.openxmlformats.org/drawingml/2006/main">
            <a:r>
              <a:t>            "shear": 4.347767881084886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"C:\\Users\\joesc\\git\\NSTXU_lithium_study\\reshape_convergence\\runs_smallscale\\129015_20260901_13-45-25\\ne_ped_scale_0.950",</a:t>
            </a:r>
          </a:p>
          <a:p xmlns:a="http://schemas.openxmlformats.org/drawingml/2006/main">
            <a:r>
              <a:t>        "axis": "ne_ped_scale",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0.9195264805947838,</a:t>
            </a:r>
          </a:p>
          <a:p xmlns:a="http://schemas.openxmlformats.org/drawingml/2006/main">
            <a:r>
              <a:t>            "q": 6.923709793183211,</a:t>
            </a:r>
          </a:p>
          <a:p xmlns:a="http://schemas.openxmlformats.org/drawingml/2006/main">
            <a:r>
              <a:t>            "shear": 3.8881768481702927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0.9188496792617544,</a:t>
            </a:r>
          </a:p>
          <a:p xmlns:a="http://schemas.openxmlformats.org/drawingml/2006/main">
            <a:r>
              <a:t>            "q": 8.046703917045958,</a:t>
            </a:r>
          </a:p>
          <a:p xmlns:a="http://schemas.openxmlformats.org/drawingml/2006/main">
            <a:r>
              <a:t>            "shear": 3.9963397692815947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0.9523079312159084,</a:t>
            </a:r>
          </a:p>
          <a:p xmlns:a="http://schemas.openxmlformats.org/drawingml/2006/main">
            <a:r>
              <a:t>            "q": 10.700703152281449,</a:t>
            </a:r>
          </a:p>
          <a:p xmlns:a="http://schemas.openxmlformats.org/drawingml/2006/main">
            <a:r>
              <a:t>            "shear": 4.444037192946588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"C:\\Users\\joesc\\git\\NSTXU_lithium_study\\reshape_convergence\\runs_smallscale\\129015_20260901_13-45-25\\ne_ped_scale_1.050",</a:t>
            </a:r>
          </a:p>
          <a:p xmlns:a="http://schemas.openxmlformats.org/drawingml/2006/main">
            <a:r>
              <a:t>        "axis": "ne_ped_scale",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1.0163954232559167,</a:t>
            </a:r>
          </a:p>
          <a:p xmlns:a="http://schemas.openxmlformats.org/drawingml/2006/main">
            <a:r>
              <a:t>            "q": 6.883792193532971,</a:t>
            </a:r>
          </a:p>
          <a:p xmlns:a="http://schemas.openxmlformats.org/drawingml/2006/main">
            <a:r>
              <a:t>            "shear": 3.8996908409677657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1.015312297344869,</a:t>
            </a:r>
          </a:p>
          <a:p xmlns:a="http://schemas.openxmlformats.org/drawingml/2006/main">
            <a:r>
              <a:t>            "q": 8.004719912978015,</a:t>
            </a:r>
          </a:p>
          <a:p xmlns:a="http://schemas.openxmlformats.org/drawingml/2006/main">
            <a:r>
              <a:t>            "shear": 4.011403517964364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1.0307701764314061,</a:t>
            </a:r>
          </a:p>
          <a:p xmlns:a="http://schemas.openxmlformats.org/drawingml/2006/main">
            <a:r>
              <a:t>            "q": 10.67366545168767,</a:t>
            </a:r>
          </a:p>
          <a:p xmlns:a="http://schemas.openxmlformats.org/drawingml/2006/main">
            <a:r>
              <a:t>            "shear": 4.508654198445528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"C:\\Users\\joesc\\git\\NSTXU_lithium_study\\reshape_convergence\\runs_smallscale\\129015_20260901_13-45-25\\ne_ped_scale_1.100",</a:t>
            </a:r>
          </a:p>
          <a:p xmlns:a="http://schemas.openxmlformats.org/drawingml/2006/main">
            <a:r>
              <a:t>        "axis": "ne_ped_scale",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1.0657348935006479,</a:t>
            </a:r>
          </a:p>
          <a:p xmlns:a="http://schemas.openxmlformats.org/drawingml/2006/main">
            <a:r>
              <a:t>            "q": 6.86373116882132,</a:t>
            </a:r>
          </a:p>
          <a:p xmlns:a="http://schemas.openxmlformats.org/drawingml/2006/main">
            <a:r>
              <a:t>            "shear": 3.9057435283714956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1.064434046203744,</a:t>
            </a:r>
          </a:p>
          <a:p xmlns:a="http://schemas.openxmlformats.org/drawingml/2006/main">
            <a:r>
              <a:t>            "q": 7.983728980830336,</a:t>
            </a:r>
          </a:p>
          <a:p xmlns:a="http://schemas.openxmlformats.org/drawingml/2006/main">
            <a:r>
              <a:t>            "shear": 4.019779388029534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1.070763847460663,</a:t>
            </a:r>
          </a:p>
          <a:p xmlns:a="http://schemas.openxmlformats.org/drawingml/2006/main">
            <a:r>
              <a:t>            "q": 10.657342136259878,</a:t>
            </a:r>
          </a:p>
          <a:p xmlns:a="http://schemas.openxmlformats.org/drawingml/2006/main">
            <a:r>
              <a:t>            "shear": 4.533213407970466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"C:\\Users\\joesc\\git\\NSTXU_lithium_study\\reshape_convergence\\runs_smallscale\\129015_20260901_13-45-25\\Te_ped_scale_0.900",</a:t>
            </a:r>
          </a:p>
          <a:p xmlns:a="http://schemas.openxmlformats.org/drawingml/2006/main">
            <a:r>
              <a:t>        "axis": "Te_ped_scale",</a:t>
            </a:r>
          </a:p>
          <a:p xmlns:a="http://schemas.openxmlformats.org/drawingml/2006/main">
            <a:r>
              <a:t>        "scale": 0.9,</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0.9071130160025593,</a:t>
            </a:r>
          </a:p>
          <a:p xmlns:a="http://schemas.openxmlformats.org/drawingml/2006/main">
            <a:r>
              <a:t>            "q": 6.945863523976527,</a:t>
            </a:r>
          </a:p>
          <a:p xmlns:a="http://schemas.openxmlformats.org/drawingml/2006/main">
            <a:r>
              <a:t>            "shear": 3.897790307365167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0.901212715153962,</a:t>
            </a:r>
          </a:p>
          <a:p xmlns:a="http://schemas.openxmlformats.org/drawingml/2006/main">
            <a:r>
              <a:t>            "q": 8.073559374350113,</a:t>
            </a:r>
          </a:p>
          <a:p xmlns:a="http://schemas.openxmlformats.org/drawingml/2006/main">
            <a:r>
              <a:t>            "shear": 3.9873299704436085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0.9561632156366846,</a:t>
            </a:r>
          </a:p>
          <a:p xmlns:a="http://schemas.openxmlformats.org/drawingml/2006/main">
            <a:r>
              <a:t>            "q": 10.727051559775711,</a:t>
            </a:r>
          </a:p>
          <a:p xmlns:a="http://schemas.openxmlformats.org/drawingml/2006/main">
            <a:r>
              <a:t>            "shear": 4.440131525793459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"C:\\Users\\joesc\\git\\NSTXU_lithium_study\\reshape_convergence\\runs_smallscale\\129015_20260901_13-45-25\\Te_ped_scale_0.950",</a:t>
            </a:r>
          </a:p>
          <a:p xmlns:a="http://schemas.openxmlformats.org/drawingml/2006/main">
            <a:r>
              <a:t>        "axis": "Te_ped_scale",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0.9385804571654079,</a:t>
            </a:r>
          </a:p>
          <a:p xmlns:a="http://schemas.openxmlformats.org/drawingml/2006/main">
            <a:r>
              <a:t>            "q": 6.932143754339909,</a:t>
            </a:r>
          </a:p>
          <a:p xmlns:a="http://schemas.openxmlformats.org/drawingml/2006/main">
            <a:r>
              <a:t>            "shear": 3.9016715297913236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0.9319845846740067,</a:t>
            </a:r>
          </a:p>
          <a:p xmlns:a="http://schemas.openxmlformats.org/drawingml/2006/main">
            <a:r>
              <a:t>            "q": 8.059442130735734,</a:t>
            </a:r>
          </a:p>
          <a:p xmlns:a="http://schemas.openxmlformats.org/drawingml/2006/main">
            <a:r>
              <a:t>            "shear": 3.9960859842442504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0.9739748859617795,</a:t>
            </a:r>
          </a:p>
          <a:p xmlns:a="http://schemas.openxmlformats.org/drawingml/2006/main">
            <a:r>
              <a:t>            "q": 10.718417853437295,</a:t>
            </a:r>
          </a:p>
          <a:p xmlns:a="http://schemas.openxmlformats.org/drawingml/2006/main">
            <a:r>
              <a:t>            "shear": 4.450458203306853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"C:\\Users\\joesc\\git\\NSTXU_lithium_study\\reshape_convergence\\runs_smallscale\\129015_20260901_13-45-25\\Te_ped_scale_1.050",</a:t>
            </a:r>
          </a:p>
          <a:p xmlns:a="http://schemas.openxmlformats.org/drawingml/2006/main">
            <a:r>
              <a:t>        "axis": "Te_ped_scale",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1.0018769834999302,</a:t>
            </a:r>
          </a:p>
          <a:p xmlns:a="http://schemas.openxmlformats.org/drawingml/2006/main">
            <a:r>
              <a:t>            "q": 6.9046075189469915,</a:t>
            </a:r>
          </a:p>
          <a:p xmlns:a="http://schemas.openxmlformats.org/drawingml/2006/main">
            <a:r>
              <a:t>            "shear": 3.9091413962806563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0.9938301689449511,</a:t>
            </a:r>
          </a:p>
          <a:p xmlns:a="http://schemas.openxmlformats.org/drawingml/2006/main">
            <a:r>
              <a:t>            "q": 8.030920893040648,</a:t>
            </a:r>
          </a:p>
          <a:p xmlns:a="http://schemas.openxmlformats.org/drawingml/2006/main">
            <a:r>
              <a:t>            "shear": 4.012834871926607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1.0090345558828286,</a:t>
            </a:r>
          </a:p>
          <a:p xmlns:a="http://schemas.openxmlformats.org/drawingml/2006/main">
            <a:r>
              <a:t>            "q": 10.706545232173186,</a:t>
            </a:r>
          </a:p>
          <a:p xmlns:a="http://schemas.openxmlformats.org/drawingml/2006/main">
            <a:r>
              <a:t>            "shear": 4.499196841648801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"C:\\Users\\joesc\\git\\NSTXU_lithium_study\\reshape_convergence\\runs_smallscale\\129015_20260901_13-45-25\\Te_ped_scale_1.100",</a:t>
            </a:r>
          </a:p>
          <a:p xmlns:a="http://schemas.openxmlformats.org/drawingml/2006/main">
            <a:r>
              <a:t>        "axis": "Te_ped_scale",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1.0337746729773722,</a:t>
            </a:r>
          </a:p>
          <a:p xmlns:a="http://schemas.openxmlformats.org/drawingml/2006/main">
            <a:r>
              <a:t>            "q": 6.8909255977354915,</a:t>
            </a:r>
          </a:p>
          <a:p xmlns:a="http://schemas.openxmlformats.org/drawingml/2006/main">
            <a:r>
              <a:t>            "shear": 3.913077985421005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1.0250177626362305,</a:t>
            </a:r>
          </a:p>
          <a:p xmlns:a="http://schemas.openxmlformats.org/drawingml/2006/main">
            <a:r>
              <a:t>            "q": 8.016856892693108,</a:t>
            </a:r>
          </a:p>
          <a:p xmlns:a="http://schemas.openxmlformats.org/drawingml/2006/main">
            <a:r>
              <a:t>            "shear": 4.021799688840177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1.0270062751725637,</a:t>
            </a:r>
          </a:p>
          <a:p xmlns:a="http://schemas.openxmlformats.org/drawingml/2006/main">
            <a:r>
              <a:t>            "q": 10.697872858725443,</a:t>
            </a:r>
          </a:p>
          <a:p xmlns:a="http://schemas.openxmlformats.org/drawingml/2006/main">
            <a:r>
              <a:t>            "shear": 4.511048441528468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"mtanh_n1w2"</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"Transformations and error traces",</a:t>
            </a:r>
          </a:p>
          <a:p xmlns:a="http://schemas.openxmlformats.org/drawingml/2006/main">
            <a:r>
              <a:t>  "variant": {</a:t>
            </a:r>
          </a:p>
          <a:p xmlns:a="http://schemas.openxmlformats.org/drawingml/2006/main">
            <a:r>
              <a:t>    "id": "n1w0",</a:t>
            </a:r>
          </a:p>
          <a:p xmlns:a="http://schemas.openxmlformats.org/drawingml/2006/main">
            <a:r>
              <a:t>    "title": "129015   NCSCAL = 1*, warmup = 0",</a:t>
            </a:r>
          </a:p>
          <a:p xmlns:a="http://schemas.openxmlformats.org/drawingml/2006/main">
            <a:r>
              <a:t>    "color": "#009E73",</a:t>
            </a:r>
          </a:p>
          <a:p xmlns:a="http://schemas.openxmlformats.org/drawingml/2006/main">
            <a:r>
              <a:t>    "root": "C:\\Users\\joesc\\git\\NSTXU_lithium_study\\reshape_convergence\\runs_amptest\\129015_20260903_15-51-42",</a:t>
            </a:r>
          </a:p>
          <a:p xmlns:a="http://schemas.openxmlformats.org/drawingml/2006/main">
            <a:r>
              <a:t>    "original_profile_image": "C:\\Users\\joesc\\git\\NSTXU_lithium_study\\reshape_convergence\\runs_amptest\\cheasebs_comparison_129015.png",</a:t>
            </a:r>
          </a:p>
          <a:p xmlns:a="http://schemas.openxmlformats.org/drawingml/2006/main">
            <a:r>
              <a:t>    "n": 1,</a:t>
            </a:r>
          </a:p>
          <a:p xmlns:a="http://schemas.openxmlformats.org/drawingml/2006/main">
            <a:r>
              <a:t>    "w": 0,</a:t>
            </a:r>
          </a:p>
          <a:p xmlns:a="http://schemas.openxmlformats.org/drawingml/2006/main">
            <a:r>
              <a:t>    "count": 7,</a:t>
            </a:r>
          </a:p>
          <a:p xmlns:a="http://schemas.openxmlformats.org/drawingml/2006/main">
            <a:r>
              <a:t>    "settings": {</a:t>
            </a:r>
          </a:p>
          <a:p xmlns:a="http://schemas.openxmlformats.org/drawingml/2006/main">
            <a:r>
              <a:t>      "bootstrap_mix": 0.1,</a:t>
            </a:r>
          </a:p>
          <a:p xmlns:a="http://schemas.openxmlformats.org/drawingml/2006/main">
            <a:r>
              <a:t>      "istar_mix": 0.02,</a:t>
            </a:r>
          </a:p>
          <a:p xmlns:a="http://schemas.openxmlformats.org/drawingml/2006/main">
            <a:r>
              <a:t>      "tol_ip_rel": 0.02,</a:t>
            </a:r>
          </a:p>
          <a:p xmlns:a="http://schemas.openxmlformats.org/drawingml/2006/main">
            <a:r>
              <a:t>      "tol_bs": 0.001,</a:t>
            </a:r>
          </a:p>
          <a:p xmlns:a="http://schemas.openxmlformats.org/drawingml/2006/main">
            <a:r>
              <a:t>      "tol_q": 0.001,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"C:\\Users\\joesc\\git\\NSTXU_lithium_study\\reshape_convergence\\runs_amptest\\129015_20260903_15-51-42\\ne_ped_scale_0.900",</a:t>
            </a:r>
          </a:p>
          <a:p xmlns:a="http://schemas.openxmlformats.org/drawingml/2006/main">
            <a:r>
              <a:t>        "axis": "ne_ped_scale",</a:t>
            </a:r>
          </a:p>
          <a:p xmlns:a="http://schemas.openxmlformats.org/drawingml/2006/main">
            <a:r>
              <a:t>        "scale": 0.9,</a:t>
            </a:r>
          </a:p>
          <a:p xmlns:a="http://schemas.openxmlformats.org/drawingml/2006/main">
            <a:r>
              <a:t>        "iterations": 3,</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0.8769897239600921,</a:t>
            </a:r>
          </a:p>
          <a:p xmlns:a="http://schemas.openxmlformats.org/drawingml/2006/main">
            <a:r>
              <a:t>            "q": 6.936803809451767,</a:t>
            </a:r>
          </a:p>
          <a:p xmlns:a="http://schemas.openxmlformats.org/drawingml/2006/main">
            <a:r>
              <a:t>            "shear": 3.881401357430047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0.8767945554024529,</a:t>
            </a:r>
          </a:p>
          <a:p xmlns:a="http://schemas.openxmlformats.org/drawingml/2006/main">
            <a:r>
              <a:t>            "q": 8.059861354836517,</a:t>
            </a:r>
          </a:p>
          <a:p xmlns:a="http://schemas.openxmlformats.org/drawingml/2006/main">
            <a:r>
              <a:t>            "shear": 3.993975505177117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0.9204987371311943,</a:t>
            </a:r>
          </a:p>
          <a:p xmlns:a="http://schemas.openxmlformats.org/drawingml/2006/main">
            <a:r>
              <a:t>            "q": 10.699289926901706,</a:t>
            </a:r>
          </a:p>
          <a:p xmlns:a="http://schemas.openxmlformats.org/drawingml/2006/main">
            <a:r>
              <a:t>            "shear": 4.420926705273942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"C:\\Users\\joesc\\git\\NSTXU_lithium_study\\reshape_convergence\\runs_amptest\\129015_20260903_15-51-42\\ne_ped_scale_1.100",</a:t>
            </a:r>
          </a:p>
          <a:p xmlns:a="http://schemas.openxmlformats.org/drawingml/2006/main">
            <a:r>
              <a:t>        "axis": "ne_ped_scale",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1.0656607511248364,</a:t>
            </a:r>
          </a:p>
          <a:p xmlns:a="http://schemas.openxmlformats.org/drawingml/2006/main">
            <a:r>
              <a:t>            "q": 6.863745497703431,</a:t>
            </a:r>
          </a:p>
          <a:p xmlns:a="http://schemas.openxmlformats.org/drawingml/2006/main">
            <a:r>
              <a:t>            "shear": 3.905734509777414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1.0643589948945007,</a:t>
            </a:r>
          </a:p>
          <a:p xmlns:a="http://schemas.openxmlformats.org/drawingml/2006/main">
            <a:r>
              <a:t>            "q": 7.983743740428266,</a:t>
            </a:r>
          </a:p>
          <a:p xmlns:a="http://schemas.openxmlformats.org/drawingml/2006/main">
            <a:r>
              <a:t>            "shear": 4.019764584169859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1.0706931099232782,</a:t>
            </a:r>
          </a:p>
          <a:p xmlns:a="http://schemas.openxmlformats.org/drawingml/2006/main">
            <a:r>
              <a:t>            "q": 10.657504575379008,</a:t>
            </a:r>
          </a:p>
          <a:p xmlns:a="http://schemas.openxmlformats.org/drawingml/2006/main">
            <a:r>
              <a:t>            "shear": 4.532939681241806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"C:\\Users\\joesc\\git\\NSTXU_lithium_study\\reshape_convergence\\runs_amptest\\129015_20260903_15-51-42\\ne_ped_scale_1.300",</a:t>
            </a:r>
          </a:p>
          <a:p xmlns:a="http://schemas.openxmlformats.org/drawingml/2006/main">
            <a:r>
              <a:t>        "axis": "ne_ped_scale",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1.2690655223305414,</a:t>
            </a:r>
          </a:p>
          <a:p xmlns:a="http://schemas.openxmlformats.org/drawingml/2006/main">
            <a:r>
              <a:t>            "q": 6.782880581517629,</a:t>
            </a:r>
          </a:p>
          <a:p xmlns:a="http://schemas.openxmlformats.org/drawingml/2006/main">
            <a:r>
              <a:t>            "shear": 3.9301294977724957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1.2662817915235969,</a:t>
            </a:r>
          </a:p>
          <a:p xmlns:a="http://schemas.openxmlformats.org/drawingml/2006/main">
            <a:r>
              <a:t>            "q": 7.898784042564701,</a:t>
            </a:r>
          </a:p>
          <a:p xmlns:a="http://schemas.openxmlformats.org/drawingml/2006/main">
            <a:r>
              <a:t>            "shear": 4.046377950836519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1.232314439476373,</a:t>
            </a:r>
          </a:p>
          <a:p xmlns:a="http://schemas.openxmlformats.org/drawingml/2006/main">
            <a:r>
              <a:t>            "q": 10.601497357670985,</a:t>
            </a:r>
          </a:p>
          <a:p xmlns:a="http://schemas.openxmlformats.org/drawingml/2006/main">
            <a:r>
              <a:t>            "shear": 4.634510692237757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"C:\\Users\\joesc\\git\\NSTXU_lithium_study\\reshape_convergence\\runs_amptest\\129015_20260903_15-51-42\\Te_ped_scale_0.700",</a:t>
            </a:r>
          </a:p>
          <a:p xmlns:a="http://schemas.openxmlformats.org/drawingml/2006/main">
            <a:r>
              <a:t>        "axis": "Te_ped_scale",</a:t>
            </a:r>
          </a:p>
          <a:p xmlns:a="http://schemas.openxmlformats.org/drawingml/2006/main">
            <a:r>
              <a:t>        "scale": 0.7,</a:t>
            </a:r>
          </a:p>
          <a:p xmlns:a="http://schemas.openxmlformats.org/drawingml/2006/main">
            <a:r>
              <a:t>        "iterations": 6,</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0.81559081817211,</a:t>
            </a:r>
          </a:p>
          <a:p xmlns:a="http://schemas.openxmlformats.org/drawingml/2006/main">
            <a:r>
              <a:t>            "q": 6.992313794428582,</a:t>
            </a:r>
          </a:p>
          <a:p xmlns:a="http://schemas.openxmlformats.org/drawingml/2006/main">
            <a:r>
              <a:t>            "shear": 3.884577410096642</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0.8120509599989438,</a:t>
            </a:r>
          </a:p>
          <a:p xmlns:a="http://schemas.openxmlformats.org/drawingml/2006/main">
            <a:r>
              <a:t>            "q": 8.119760846594042,</a:t>
            </a:r>
          </a:p>
          <a:p xmlns:a="http://schemas.openxmlformats.org/drawingml/2006/main">
            <a:r>
              <a:t>            "shear": 3.945482939308704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0.9145686046211983,</a:t>
            </a:r>
          </a:p>
          <a:p xmlns:a="http://schemas.openxmlformats.org/drawingml/2006/main">
            <a:r>
              <a:t>            "q": 10.709524670586092,</a:t>
            </a:r>
          </a:p>
          <a:p xmlns:a="http://schemas.openxmlformats.org/drawingml/2006/main">
            <a:r>
              <a:t>            "shear": 4.3881532787485025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"C:\\Users\\joesc\\git\\NSTXU_lithium_study\\reshape_convergence\\runs_amptest\\129015_20260903_15-51-42\\Te_ped_scale_0.900",</a:t>
            </a:r>
          </a:p>
          <a:p xmlns:a="http://schemas.openxmlformats.org/drawingml/2006/main">
            <a:r>
              <a:t>        "axis": "Te_ped_scale",</a:t>
            </a:r>
          </a:p>
          <a:p xmlns:a="http://schemas.openxmlformats.org/drawingml/2006/main">
            <a:r>
              <a:t>        "scale": 0.9,</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0.9069545369383641,</a:t>
            </a:r>
          </a:p>
          <a:p xmlns:a="http://schemas.openxmlformats.org/drawingml/2006/main">
            <a:r>
              <a:t>            "q": 6.945911530717166,</a:t>
            </a:r>
          </a:p>
          <a:p xmlns:a="http://schemas.openxmlformats.org/drawingml/2006/main">
            <a:r>
              <a:t>            "shear": 3.897775582938245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0.9010544415678522,</a:t>
            </a:r>
          </a:p>
          <a:p xmlns:a="http://schemas.openxmlformats.org/drawingml/2006/main">
            <a:r>
              <a:t>            "q": 8.073613767414118,</a:t>
            </a:r>
          </a:p>
          <a:p xmlns:a="http://schemas.openxmlformats.org/drawingml/2006/main">
            <a:r>
              <a:t>            "shear": 3.9873395338273436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0.956010911267731,</a:t>
            </a:r>
          </a:p>
          <a:p xmlns:a="http://schemas.openxmlformats.org/drawingml/2006/main">
            <a:r>
              <a:t>            "q": 10.727428055464319,</a:t>
            </a:r>
          </a:p>
          <a:p xmlns:a="http://schemas.openxmlformats.org/drawingml/2006/main">
            <a:r>
              <a:t>            "shear": 4.440650214072822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"C:\\Users\\joesc\\git\\NSTXU_lithium_study\\reshape_convergence\\runs_amptest\\129015_20260903_15-51-42\\Te_ped_scale_1.100",</a:t>
            </a:r>
          </a:p>
          <a:p xmlns:a="http://schemas.openxmlformats.org/drawingml/2006/main">
            <a:r>
              <a:t>        "axis": "Te_ped_scale",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1.0336409697026296,</a:t>
            </a:r>
          </a:p>
          <a:p xmlns:a="http://schemas.openxmlformats.org/drawingml/2006/main">
            <a:r>
              <a:t>            "q": 6.890972920013801,</a:t>
            </a:r>
          </a:p>
          <a:p xmlns:a="http://schemas.openxmlformats.org/drawingml/2006/main">
            <a:r>
              <a:t>            "shear": 3.9130671646604633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1.024884530682772,</a:t>
            </a:r>
          </a:p>
          <a:p xmlns:a="http://schemas.openxmlformats.org/drawingml/2006/main">
            <a:r>
              <a:t>            "q": 8.016911664355073,</a:t>
            </a:r>
          </a:p>
          <a:p xmlns:a="http://schemas.openxmlformats.org/drawingml/2006/main">
            <a:r>
              <a:t>            "shear": 4.021797464126857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1.0268928146296654,</a:t>
            </a:r>
          </a:p>
          <a:p xmlns:a="http://schemas.openxmlformats.org/drawingml/2006/main">
            <a:r>
              <a:t>            "q": 10.698097927859884,</a:t>
            </a:r>
          </a:p>
          <a:p xmlns:a="http://schemas.openxmlformats.org/drawingml/2006/main">
            <a:r>
              <a:t>            "shear": 4.5104462523076725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"C:\\Users\\joesc\\git\\NSTXU_lithium_study\\reshape_convergence\\runs_amptest\\129015_20260903_15-51-42\\Te_ped_scale_1.300",</a:t>
            </a:r>
          </a:p>
          <a:p xmlns:a="http://schemas.openxmlformats.org/drawingml/2006/main">
            <a:r>
              <a:t>        "axis": "Te_ped_scale",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1.162625160091561,</a:t>
            </a:r>
          </a:p>
          <a:p xmlns:a="http://schemas.openxmlformats.org/drawingml/2006/main">
            <a:r>
              <a:t>            "q": 6.836217063515389,</a:t>
            </a:r>
          </a:p>
          <a:p xmlns:a="http://schemas.openxmlformats.org/drawingml/2006/main">
            <a:r>
              <a:t>            "shear": 3.9285245302653005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1.1508977820377886,</a:t>
            </a:r>
          </a:p>
          <a:p xmlns:a="http://schemas.openxmlformats.org/drawingml/2006/main">
            <a:r>
              <a:t>            "q": 7.96038900986911,</a:t>
            </a:r>
          </a:p>
          <a:p xmlns:a="http://schemas.openxmlformats.org/drawingml/2006/main">
            <a:r>
              <a:t>            "shear": 4.056013028218884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1.0984020498937006,</a:t>
            </a:r>
          </a:p>
          <a:p xmlns:a="http://schemas.openxmlformats.org/drawingml/2006/main">
            <a:r>
              <a:t>            "q": 10.670844367550982,</a:t>
            </a:r>
          </a:p>
          <a:p xmlns:a="http://schemas.openxmlformats.org/drawingml/2006/main">
            <a:r>
              <a:t>            "shear": 4.568194895617097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"mtanh_n1w0"</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"Iteration counts and pressure chains",</a:t>
            </a:r>
          </a:p>
          <a:p xmlns:a="http://schemas.openxmlformats.org/drawingml/2006/main">
            <a:r>
              <a:t>  "variant": {</a:t>
            </a:r>
          </a:p>
          <a:p xmlns:a="http://schemas.openxmlformats.org/drawingml/2006/main">
            <a:r>
              <a:t>    "id": "n1w0",</a:t>
            </a:r>
          </a:p>
          <a:p xmlns:a="http://schemas.openxmlformats.org/drawingml/2006/main">
            <a:r>
              <a:t>    "title": "129015   NCSCAL = 1*, warmup = 0",</a:t>
            </a:r>
          </a:p>
          <a:p xmlns:a="http://schemas.openxmlformats.org/drawingml/2006/main">
            <a:r>
              <a:t>    "color": "#009E73",</a:t>
            </a:r>
          </a:p>
          <a:p xmlns:a="http://schemas.openxmlformats.org/drawingml/2006/main">
            <a:r>
              <a:t>    "root": "C:\\Users\\joesc\\git\\NSTXU_lithium_study\\reshape_convergence\\runs_amptest\\129015_20260903_15-51-42",</a:t>
            </a:r>
          </a:p>
          <a:p xmlns:a="http://schemas.openxmlformats.org/drawingml/2006/main">
            <a:r>
              <a:t>    "original_profile_image": "C:\\Users\\joesc\\git\\NSTXU_lithium_study\\reshape_convergence\\runs_amptest\\cheasebs_comparison_129015.png",</a:t>
            </a:r>
          </a:p>
          <a:p xmlns:a="http://schemas.openxmlformats.org/drawingml/2006/main">
            <a:r>
              <a:t>    "n": 1,</a:t>
            </a:r>
          </a:p>
          <a:p xmlns:a="http://schemas.openxmlformats.org/drawingml/2006/main">
            <a:r>
              <a:t>    "w": 0,</a:t>
            </a:r>
          </a:p>
          <a:p xmlns:a="http://schemas.openxmlformats.org/drawingml/2006/main">
            <a:r>
              <a:t>    "count": 7,</a:t>
            </a:r>
          </a:p>
          <a:p xmlns:a="http://schemas.openxmlformats.org/drawingml/2006/main">
            <a:r>
              <a:t>    "settings": {</a:t>
            </a:r>
          </a:p>
          <a:p xmlns:a="http://schemas.openxmlformats.org/drawingml/2006/main">
            <a:r>
              <a:t>      "bootstrap_mix": 0.1,</a:t>
            </a:r>
          </a:p>
          <a:p xmlns:a="http://schemas.openxmlformats.org/drawingml/2006/main">
            <a:r>
              <a:t>      "istar_mix": 0.02,</a:t>
            </a:r>
          </a:p>
          <a:p xmlns:a="http://schemas.openxmlformats.org/drawingml/2006/main">
            <a:r>
              <a:t>      "tol_ip_rel": 0.02,</a:t>
            </a:r>
          </a:p>
          <a:p xmlns:a="http://schemas.openxmlformats.org/drawingml/2006/main">
            <a:r>
              <a:t>      "tol_bs": 0.001,</a:t>
            </a:r>
          </a:p>
          <a:p xmlns:a="http://schemas.openxmlformats.org/drawingml/2006/main">
            <a:r>
              <a:t>      "tol_q": 0.001,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"C:\\Users\\joesc\\git\\NSTXU_lithium_study\\reshape_convergence\\runs_amptest\\129015_20260903_15-51-42\\ne_ped_scale_0.900",</a:t>
            </a:r>
          </a:p>
          <a:p xmlns:a="http://schemas.openxmlformats.org/drawingml/2006/main">
            <a:r>
              <a:t>        "axis": "ne_ped_scale",</a:t>
            </a:r>
          </a:p>
          <a:p xmlns:a="http://schemas.openxmlformats.org/drawingml/2006/main">
            <a:r>
              <a:t>        "scale": 0.9,</a:t>
            </a:r>
          </a:p>
          <a:p xmlns:a="http://schemas.openxmlformats.org/drawingml/2006/main">
            <a:r>
              <a:t>        "iterations": 3,</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0.8769897239600921,</a:t>
            </a:r>
          </a:p>
          <a:p xmlns:a="http://schemas.openxmlformats.org/drawingml/2006/main">
            <a:r>
              <a:t>            "q": 6.936803809451767,</a:t>
            </a:r>
          </a:p>
          <a:p xmlns:a="http://schemas.openxmlformats.org/drawingml/2006/main">
            <a:r>
              <a:t>            "shear": 3.881401357430047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0.8767945554024529,</a:t>
            </a:r>
          </a:p>
          <a:p xmlns:a="http://schemas.openxmlformats.org/drawingml/2006/main">
            <a:r>
              <a:t>            "q": 8.059861354836517,</a:t>
            </a:r>
          </a:p>
          <a:p xmlns:a="http://schemas.openxmlformats.org/drawingml/2006/main">
            <a:r>
              <a:t>            "shear": 3.993975505177117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0.9204987371311943,</a:t>
            </a:r>
          </a:p>
          <a:p xmlns:a="http://schemas.openxmlformats.org/drawingml/2006/main">
            <a:r>
              <a:t>            "q": 10.699289926901706,</a:t>
            </a:r>
          </a:p>
          <a:p xmlns:a="http://schemas.openxmlformats.org/drawingml/2006/main">
            <a:r>
              <a:t>            "shear": 4.420926705273942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"C:\\Users\\joesc\\git\\NSTXU_lithium_study\\reshape_convergence\\runs_amptest\\129015_20260903_15-51-42\\ne_ped_scale_1.100",</a:t>
            </a:r>
          </a:p>
          <a:p xmlns:a="http://schemas.openxmlformats.org/drawingml/2006/main">
            <a:r>
              <a:t>        "axis": "ne_ped_scale",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1.0656607511248364,</a:t>
            </a:r>
          </a:p>
          <a:p xmlns:a="http://schemas.openxmlformats.org/drawingml/2006/main">
            <a:r>
              <a:t>            "q": 6.863745497703431,</a:t>
            </a:r>
          </a:p>
          <a:p xmlns:a="http://schemas.openxmlformats.org/drawingml/2006/main">
            <a:r>
              <a:t>            "shear": 3.905734509777414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1.0643589948945007,</a:t>
            </a:r>
          </a:p>
          <a:p xmlns:a="http://schemas.openxmlformats.org/drawingml/2006/main">
            <a:r>
              <a:t>            "q": 7.983743740428266,</a:t>
            </a:r>
          </a:p>
          <a:p xmlns:a="http://schemas.openxmlformats.org/drawingml/2006/main">
            <a:r>
              <a:t>            "shear": 4.019764584169859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1.0706931099232782,</a:t>
            </a:r>
          </a:p>
          <a:p xmlns:a="http://schemas.openxmlformats.org/drawingml/2006/main">
            <a:r>
              <a:t>            "q": 10.657504575379008,</a:t>
            </a:r>
          </a:p>
          <a:p xmlns:a="http://schemas.openxmlformats.org/drawingml/2006/main">
            <a:r>
              <a:t>            "shear": 4.532939681241806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"C:\\Users\\joesc\\git\\NSTXU_lithium_study\\reshape_convergence\\runs_amptest\\129015_20260903_15-51-42\\ne_ped_scale_1.300",</a:t>
            </a:r>
          </a:p>
          <a:p xmlns:a="http://schemas.openxmlformats.org/drawingml/2006/main">
            <a:r>
              <a:t>        "axis": "ne_ped_scale",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1.2690655223305414,</a:t>
            </a:r>
          </a:p>
          <a:p xmlns:a="http://schemas.openxmlformats.org/drawingml/2006/main">
            <a:r>
              <a:t>            "q": 6.782880581517629,</a:t>
            </a:r>
          </a:p>
          <a:p xmlns:a="http://schemas.openxmlformats.org/drawingml/2006/main">
            <a:r>
              <a:t>            "shear": 3.9301294977724957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1.2662817915235969,</a:t>
            </a:r>
          </a:p>
          <a:p xmlns:a="http://schemas.openxmlformats.org/drawingml/2006/main">
            <a:r>
              <a:t>            "q": 7.898784042564701,</a:t>
            </a:r>
          </a:p>
          <a:p xmlns:a="http://schemas.openxmlformats.org/drawingml/2006/main">
            <a:r>
              <a:t>            "shear": 4.046377950836519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1.232314439476373,</a:t>
            </a:r>
          </a:p>
          <a:p xmlns:a="http://schemas.openxmlformats.org/drawingml/2006/main">
            <a:r>
              <a:t>            "q": 10.601497357670985,</a:t>
            </a:r>
          </a:p>
          <a:p xmlns:a="http://schemas.openxmlformats.org/drawingml/2006/main">
            <a:r>
              <a:t>            "shear": 4.634510692237757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"C:\\Users\\joesc\\git\\NSTXU_lithium_study\\reshape_convergence\\runs_amptest\\129015_20260903_15-51-42\\Te_ped_scale_0.700",</a:t>
            </a:r>
          </a:p>
          <a:p xmlns:a="http://schemas.openxmlformats.org/drawingml/2006/main">
            <a:r>
              <a:t>        "axis": "Te_ped_scale",</a:t>
            </a:r>
          </a:p>
          <a:p xmlns:a="http://schemas.openxmlformats.org/drawingml/2006/main">
            <a:r>
              <a:t>        "scale": 0.7,</a:t>
            </a:r>
          </a:p>
          <a:p xmlns:a="http://schemas.openxmlformats.org/drawingml/2006/main">
            <a:r>
              <a:t>        "iterations": 6,</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0.81559081817211,</a:t>
            </a:r>
          </a:p>
          <a:p xmlns:a="http://schemas.openxmlformats.org/drawingml/2006/main">
            <a:r>
              <a:t>            "q": 6.992313794428582,</a:t>
            </a:r>
          </a:p>
          <a:p xmlns:a="http://schemas.openxmlformats.org/drawingml/2006/main">
            <a:r>
              <a:t>            "shear": 3.884577410096642</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0.8120509599989438,</a:t>
            </a:r>
          </a:p>
          <a:p xmlns:a="http://schemas.openxmlformats.org/drawingml/2006/main">
            <a:r>
              <a:t>            "q": 8.119760846594042,</a:t>
            </a:r>
          </a:p>
          <a:p xmlns:a="http://schemas.openxmlformats.org/drawingml/2006/main">
            <a:r>
              <a:t>            "shear": 3.945482939308704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0.9145686046211983,</a:t>
            </a:r>
          </a:p>
          <a:p xmlns:a="http://schemas.openxmlformats.org/drawingml/2006/main">
            <a:r>
              <a:t>            "q": 10.709524670586092,</a:t>
            </a:r>
          </a:p>
          <a:p xmlns:a="http://schemas.openxmlformats.org/drawingml/2006/main">
            <a:r>
              <a:t>            "shear": 4.3881532787485025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"C:\\Users\\joesc\\git\\NSTXU_lithium_study\\reshape_convergence\\runs_amptest\\129015_20260903_15-51-42\\Te_ped_scale_0.900",</a:t>
            </a:r>
          </a:p>
          <a:p xmlns:a="http://schemas.openxmlformats.org/drawingml/2006/main">
            <a:r>
              <a:t>        "axis": "Te_ped_scale",</a:t>
            </a:r>
          </a:p>
          <a:p xmlns:a="http://schemas.openxmlformats.org/drawingml/2006/main">
            <a:r>
              <a:t>        "scale": 0.9,</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0.9069545369383641,</a:t>
            </a:r>
          </a:p>
          <a:p xmlns:a="http://schemas.openxmlformats.org/drawingml/2006/main">
            <a:r>
              <a:t>            "q": 6.945911530717166,</a:t>
            </a:r>
          </a:p>
          <a:p xmlns:a="http://schemas.openxmlformats.org/drawingml/2006/main">
            <a:r>
              <a:t>            "shear": 3.897775582938245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0.9010544415678522,</a:t>
            </a:r>
          </a:p>
          <a:p xmlns:a="http://schemas.openxmlformats.org/drawingml/2006/main">
            <a:r>
              <a:t>            "q": 8.073613767414118,</a:t>
            </a:r>
          </a:p>
          <a:p xmlns:a="http://schemas.openxmlformats.org/drawingml/2006/main">
            <a:r>
              <a:t>            "shear": 3.9873395338273436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0.956010911267731,</a:t>
            </a:r>
          </a:p>
          <a:p xmlns:a="http://schemas.openxmlformats.org/drawingml/2006/main">
            <a:r>
              <a:t>            "q": 10.727428055464319,</a:t>
            </a:r>
          </a:p>
          <a:p xmlns:a="http://schemas.openxmlformats.org/drawingml/2006/main">
            <a:r>
              <a:t>            "shear": 4.440650214072822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"C:\\Users\\joesc\\git\\NSTXU_lithium_study\\reshape_convergence\\runs_amptest\\129015_20260903_15-51-42\\Te_ped_scale_1.100",</a:t>
            </a:r>
          </a:p>
          <a:p xmlns:a="http://schemas.openxmlformats.org/drawingml/2006/main">
            <a:r>
              <a:t>        "axis": "Te_ped_scale",</a:t>
            </a:r>
          </a:p>
          <a:p xmlns:a="http://schemas.openxmlformats.org/drawingml/2006/main">
            <a:r>
              <a:t>        "scale": 1.1,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1.0336409697026296,</a:t>
            </a:r>
          </a:p>
          <a:p xmlns:a="http://schemas.openxmlformats.org/drawingml/2006/main">
            <a:r>
              <a:t>            "q": 6.890972920013801,</a:t>
            </a:r>
          </a:p>
          <a:p xmlns:a="http://schemas.openxmlformats.org/drawingml/2006/main">
            <a:r>
              <a:t>            "shear": 3.9130671646604633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1.024884530682772,</a:t>
            </a:r>
          </a:p>
          <a:p xmlns:a="http://schemas.openxmlformats.org/drawingml/2006/main">
            <a:r>
              <a:t>            "q": 8.016911664355073,</a:t>
            </a:r>
          </a:p>
          <a:p xmlns:a="http://schemas.openxmlformats.org/drawingml/2006/main">
            <a:r>
              <a:t>            "shear": 4.021797464126857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1.0268928146296654,</a:t>
            </a:r>
          </a:p>
          <a:p xmlns:a="http://schemas.openxmlformats.org/drawingml/2006/main">
            <a:r>
              <a:t>            "q": 10.698097927859884,</a:t>
            </a:r>
          </a:p>
          <a:p xmlns:a="http://schemas.openxmlformats.org/drawingml/2006/main">
            <a:r>
              <a:t>            "shear": 4.5104462523076725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"C:\\Users\\joesc\\git\\NSTXU_lithium_study\\reshape_convergence\\runs_amptest\\129015_20260903_15-51-42\\Te_ped_scale_1.300",</a:t>
            </a:r>
          </a:p>
          <a:p xmlns:a="http://schemas.openxmlformats.org/drawingml/2006/main">
            <a:r>
              <a:t>        "axis": "Te_ped_scale",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1.162625160091561,</a:t>
            </a:r>
          </a:p>
          <a:p xmlns:a="http://schemas.openxmlformats.org/drawingml/2006/main">
            <a:r>
              <a:t>            "q": 6.836217063515389,</a:t>
            </a:r>
          </a:p>
          <a:p xmlns:a="http://schemas.openxmlformats.org/drawingml/2006/main">
            <a:r>
              <a:t>            "shear": 3.9285245302653005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1.1508977820377886,</a:t>
            </a:r>
          </a:p>
          <a:p xmlns:a="http://schemas.openxmlformats.org/drawingml/2006/main">
            <a:r>
              <a:t>            "q": 7.96038900986911,</a:t>
            </a:r>
          </a:p>
          <a:p xmlns:a="http://schemas.openxmlformats.org/drawingml/2006/main">
            <a:r>
              <a:t>            "shear": 4.056013028218884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1.0984020498937006,</a:t>
            </a:r>
          </a:p>
          <a:p xmlns:a="http://schemas.openxmlformats.org/drawingml/2006/main">
            <a:r>
              <a:t>            "q": 10.670844367550982,</a:t>
            </a:r>
          </a:p>
          <a:p xmlns:a="http://schemas.openxmlformats.org/drawingml/2006/main">
            <a:r>
              <a:t>            "shear": 4.568194895617097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"mtanh_n1w0"</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"Transformations and error traces",</a:t>
            </a:r>
          </a:p>
          <a:p xmlns:a="http://schemas.openxmlformats.org/drawingml/2006/main">
            <a:r>
              <a:t>  "variant": {</a:t>
            </a:r>
          </a:p>
          <a:p xmlns:a="http://schemas.openxmlformats.org/drawingml/2006/main">
            <a:r>
              <a:t>    "id": "n4w2",</a:t>
            </a:r>
          </a:p>
          <a:p xmlns:a="http://schemas.openxmlformats.org/drawingml/2006/main">
            <a:r>
              <a:t>    "title": "129015   NCSCAL = 4, warmup = 2",</a:t>
            </a:r>
          </a:p>
          <a:p xmlns:a="http://schemas.openxmlformats.org/drawingml/2006/main">
            <a:r>
              <a:t>    "color": "#A23BB1",</a:t>
            </a:r>
          </a:p>
          <a:p xmlns:a="http://schemas.openxmlformats.org/drawingml/2006/main">
            <a:r>
              <a:t>    "root": "C:\\Users\\joesc\\git\\cheaseBS_tests\\data\\pm0.3_ncscal4\\129015",</a:t>
            </a:r>
          </a:p>
          <a:p xmlns:a="http://schemas.openxmlformats.org/drawingml/2006/main">
            <a:r>
              <a:t>    "original_profile_image": "C:\\Users\\joesc\\git\\cheaseBS_tests\\data\\pm0.3_ncscal4\\129015_mtanh_full_ped.png",</a:t>
            </a:r>
          </a:p>
          <a:p xmlns:a="http://schemas.openxmlformats.org/drawingml/2006/main">
            <a:r>
              <a:t>    "n": 4,</a:t>
            </a:r>
          </a:p>
          <a:p xmlns:a="http://schemas.openxmlformats.org/drawingml/2006/main">
            <a:r>
              <a:t>    "w": 2,</a:t>
            </a:r>
          </a:p>
          <a:p xmlns:a="http://schemas.openxmlformats.org/drawingml/2006/main">
            <a:r>
              <a:t>    "count": 6,</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"C:\\Users\\joesc\\git\\cheaseBS_tests\\data\\pm0.3_ncscal4\\129015\\ne_ped_scale_0.700",</a:t>
            </a:r>
          </a:p>
          <a:p xmlns:a="http://schemas.openxmlformats.org/drawingml/2006/main">
            <a:r>
              <a:t>        "axis": "ne_ped_scale",</a:t>
            </a:r>
          </a:p>
          <a:p xmlns:a="http://schemas.openxmlformats.org/drawingml/2006/main">
            <a:r>
              <a:t>        "scale": 0.7,</a:t>
            </a:r>
          </a:p>
          <a:p xmlns:a="http://schemas.openxmlformats.org/drawingml/2006/main">
            <a:r>
              <a:t>        "iterations": 50,</a:t>
            </a:r>
          </a:p>
          <a:p xmlns:a="http://schemas.openxmlformats.org/drawingml/2006/main">
            <a:r>
              <a:t>        "converged": false,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0.7268291784534654,</a:t>
            </a:r>
          </a:p>
          <a:p xmlns:a="http://schemas.openxmlformats.org/drawingml/2006/main">
            <a:r>
              <a:t>            "q": 6.8343775197239225,</a:t>
            </a:r>
          </a:p>
          <a:p xmlns:a="http://schemas.openxmlformats.org/drawingml/2006/main">
            <a:r>
              <a:t>            "shear": 3.926476235034009</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0.7200962636115038,</a:t>
            </a:r>
          </a:p>
          <a:p xmlns:a="http://schemas.openxmlformats.org/drawingml/2006/main">
            <a:r>
              <a:t>            "q": 7.947639878399186,</a:t>
            </a:r>
          </a:p>
          <a:p xmlns:a="http://schemas.openxmlformats.org/drawingml/2006/main">
            <a:r>
              <a:t>            "shear": 3.9572958968531777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0.7629198612591727,</a:t>
            </a:r>
          </a:p>
          <a:p xmlns:a="http://schemas.openxmlformats.org/drawingml/2006/main">
            <a:r>
              <a:t>            "q": 10.675994580511283,</a:t>
            </a:r>
          </a:p>
          <a:p xmlns:a="http://schemas.openxmlformats.org/drawingml/2006/main">
            <a:r>
              <a:t>            "shear": 4.473722429693107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"C:\\Users\\joesc\\git\\cheaseBS_tests\\data\\pm0.3_ncscal4\\129015\\ne_ped_scale_1.000",</a:t>
            </a:r>
          </a:p>
          <a:p xmlns:a="http://schemas.openxmlformats.org/drawingml/2006/main">
            <a:r>
              <a:t>        "axis": "ne_ped_scale",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0.9813888315220717,</a:t>
            </a:r>
          </a:p>
          <a:p xmlns:a="http://schemas.openxmlformats.org/drawingml/2006/main">
            <a:r>
              <a:t>            "q": 6.801420889287426,</a:t>
            </a:r>
          </a:p>
          <a:p xmlns:a="http://schemas.openxmlformats.org/drawingml/2006/main">
            <a:r>
              <a:t>            "shear": 3.894493167080524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0.9809338009975517,</a:t>
            </a:r>
          </a:p>
          <a:p xmlns:a="http://schemas.openxmlformats.org/drawingml/2006/main">
            <a:r>
              <a:t>            "q": 7.906940101804123,</a:t>
            </a:r>
          </a:p>
          <a:p xmlns:a="http://schemas.openxmlformats.org/drawingml/2006/main">
            <a:r>
              <a:t>            "shear": 4.0082103889821505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1.005600450155316,</a:t>
            </a:r>
          </a:p>
          <a:p xmlns:a="http://schemas.openxmlformats.org/drawingml/2006/main">
            <a:r>
              <a:t>            "q": 10.522393769635086,</a:t>
            </a:r>
          </a:p>
          <a:p xmlns:a="http://schemas.openxmlformats.org/drawingml/2006/main">
            <a:r>
              <a:t>            "shear": 4.412390906066833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"C:\\Users\\joesc\\git\\cheaseBS_tests\\data\\pm0.3_ncscal4\\129015\\ne_ped_scale_1.300",</a:t>
            </a:r>
          </a:p>
          <a:p xmlns:a="http://schemas.openxmlformats.org/drawingml/2006/main">
            <a:r>
              <a:t>        "axis": "ne_ped_scale",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1.2421457897601798,</a:t>
            </a:r>
          </a:p>
          <a:p xmlns:a="http://schemas.openxmlformats.org/drawingml/2006/main">
            <a:r>
              <a:t>            "q": 6.81251022130032,</a:t>
            </a:r>
          </a:p>
          <a:p xmlns:a="http://schemas.openxmlformats.org/drawingml/2006/main">
            <a:r>
              <a:t>            "shear": 3.927655589064903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1.240199953375471,</a:t>
            </a:r>
          </a:p>
          <a:p xmlns:a="http://schemas.openxmlformats.org/drawingml/2006/main">
            <a:r>
              <a:t>            "q": 7.932105871804619,</a:t>
            </a:r>
          </a:p>
          <a:p xmlns:a="http://schemas.openxmlformats.org/drawingml/2006/main">
            <a:r>
              <a:t>            "shear": 4.046125999087932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1.2131433575545434,</a:t>
            </a:r>
          </a:p>
          <a:p xmlns:a="http://schemas.openxmlformats.org/drawingml/2006/main">
            <a:r>
              <a:t>            "q": 10.640085761395644,</a:t>
            </a:r>
          </a:p>
          <a:p xmlns:a="http://schemas.openxmlformats.org/drawingml/2006/main">
            <a:r>
              <a:t>            "shear": 4.674107370280973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"C:\\Users\\joesc\\git\\cheaseBS_tests\\data\\pm0.3_ncscal4\\129015\\Te_ped_scale_0.700",</a:t>
            </a:r>
          </a:p>
          <a:p xmlns:a="http://schemas.openxmlformats.org/drawingml/2006/main">
            <a:r>
              <a:t>        "axis": "Te_ped_scale",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0.8068497703383138,</a:t>
            </a:r>
          </a:p>
          <a:p xmlns:a="http://schemas.openxmlformats.org/drawingml/2006/main">
            <a:r>
              <a:t>            "q": 6.831166154795651,</a:t>
            </a:r>
          </a:p>
          <a:p xmlns:a="http://schemas.openxmlformats.org/drawingml/2006/main">
            <a:r>
              <a:t>            "shear": 3.883376214530984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0.8035805750039878,</a:t>
            </a:r>
          </a:p>
          <a:p xmlns:a="http://schemas.openxmlformats.org/drawingml/2006/main">
            <a:r>
              <a:t>            "q": 7.933549454621382,</a:t>
            </a:r>
          </a:p>
          <a:p xmlns:a="http://schemas.openxmlformats.org/drawingml/2006/main">
            <a:r>
              <a:t>            "shear": 3.957618220274256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0.9078063580654069,</a:t>
            </a:r>
          </a:p>
          <a:p xmlns:a="http://schemas.openxmlformats.org/drawingml/2006/main">
            <a:r>
              <a:t>            "q": 10.51400276271765,</a:t>
            </a:r>
          </a:p>
          <a:p xmlns:a="http://schemas.openxmlformats.org/drawingml/2006/main">
            <a:r>
              <a:t>            "shear": 4.327978988010188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"C:\\Users\\joesc\\git\\cheaseBS_tests\\data\\pm0.3_ncscal4\\129015\\Te_ped_scale_1.000",</a:t>
            </a:r>
          </a:p>
          <a:p xmlns:a="http://schemas.openxmlformats.org/drawingml/2006/main">
            <a:r>
              <a:t>        "axis": "Te_ped_scale",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0.9882200644085564,</a:t>
            </a:r>
          </a:p>
          <a:p xmlns:a="http://schemas.openxmlformats.org/drawingml/2006/main">
            <a:r>
              <a:t>            "q": 6.79957086799702,</a:t>
            </a:r>
          </a:p>
          <a:p xmlns:a="http://schemas.openxmlformats.org/drawingml/2006/main">
            <a:r>
              <a:t>            "shear": 3.905786216177174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0.9811283089514407,</a:t>
            </a:r>
          </a:p>
          <a:p xmlns:a="http://schemas.openxmlformats.org/drawingml/2006/main">
            <a:r>
              <a:t>            "q": 7.907300807525324,</a:t>
            </a:r>
          </a:p>
          <a:p xmlns:a="http://schemas.openxmlformats.org/drawingml/2006/main">
            <a:r>
              <a:t>            "shear": 4.010108540345586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1.0095496015708267,</a:t>
            </a:r>
          </a:p>
          <a:p xmlns:a="http://schemas.openxmlformats.org/drawingml/2006/main">
            <a:r>
              <a:t>            "q": 10.519232032594322,</a:t>
            </a:r>
          </a:p>
          <a:p xmlns:a="http://schemas.openxmlformats.org/drawingml/2006/main">
            <a:r>
              <a:t>            "shear": 4.39578800439352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"C:\\Users\\joesc\\git\\cheaseBS_tests\\data\\pm0.3_ncscal4\\129015\\Te_ped_scale_1.300",</a:t>
            </a:r>
          </a:p>
          <a:p xmlns:a="http://schemas.openxmlformats.org/drawingml/2006/main">
            <a:r>
              <a:t>        "axis": "Te_ped_scale",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1.1690904142199168,</a:t>
            </a:r>
          </a:p>
          <a:p xmlns:a="http://schemas.openxmlformats.org/drawingml/2006/main">
            <a:r>
              <a:t>            "q": 6.7670435352357075,</a:t>
            </a:r>
          </a:p>
          <a:p xmlns:a="http://schemas.openxmlformats.org/drawingml/2006/main">
            <a:r>
              <a:t>            "shear": 3.926303122403596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1.1578016684115655,</a:t>
            </a:r>
          </a:p>
          <a:p xmlns:a="http://schemas.openxmlformats.org/drawingml/2006/main">
            <a:r>
              <a:t>            "q": 7.878906276954586,</a:t>
            </a:r>
          </a:p>
          <a:p xmlns:a="http://schemas.openxmlformats.org/drawingml/2006/main">
            <a:r>
              <a:t>            "shear": 4.055765711318818</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1.1056303592543277,</a:t>
            </a:r>
          </a:p>
          <a:p xmlns:a="http://schemas.openxmlformats.org/drawingml/2006/main">
            <a:r>
              <a:t>            "q": 10.561032509452145,</a:t>
            </a:r>
          </a:p>
          <a:p xmlns:a="http://schemas.openxmlformats.org/drawingml/2006/main">
            <a:r>
              <a:t>            "shear": 4.585835937795514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"mtanh_n4w2"</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"Iteration counts and pressure chains",</a:t>
            </a:r>
          </a:p>
          <a:p xmlns:a="http://schemas.openxmlformats.org/drawingml/2006/main">
            <a:r>
              <a:t>  "variant": {</a:t>
            </a:r>
          </a:p>
          <a:p xmlns:a="http://schemas.openxmlformats.org/drawingml/2006/main">
            <a:r>
              <a:t>    "id": "n4w2",</a:t>
            </a:r>
          </a:p>
          <a:p xmlns:a="http://schemas.openxmlformats.org/drawingml/2006/main">
            <a:r>
              <a:t>    "title": "129015   NCSCAL = 4, warmup = 2",</a:t>
            </a:r>
          </a:p>
          <a:p xmlns:a="http://schemas.openxmlformats.org/drawingml/2006/main">
            <a:r>
              <a:t>    "color": "#A23BB1",</a:t>
            </a:r>
          </a:p>
          <a:p xmlns:a="http://schemas.openxmlformats.org/drawingml/2006/main">
            <a:r>
              <a:t>    "root": "C:\\Users\\joesc\\git\\cheaseBS_tests\\data\\pm0.3_ncscal4\\129015",</a:t>
            </a:r>
          </a:p>
          <a:p xmlns:a="http://schemas.openxmlformats.org/drawingml/2006/main">
            <a:r>
              <a:t>    "original_profile_image": "C:\\Users\\joesc\\git\\cheaseBS_tests\\data\\pm0.3_ncscal4\\129015_mtanh_full_ped.png",</a:t>
            </a:r>
          </a:p>
          <a:p xmlns:a="http://schemas.openxmlformats.org/drawingml/2006/main">
            <a:r>
              <a:t>    "n": 4,</a:t>
            </a:r>
          </a:p>
          <a:p xmlns:a="http://schemas.openxmlformats.org/drawingml/2006/main">
            <a:r>
              <a:t>    "w": 2,</a:t>
            </a:r>
          </a:p>
          <a:p xmlns:a="http://schemas.openxmlformats.org/drawingml/2006/main">
            <a:r>
              <a:t>    "count": 6,</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"C:\\Users\\joesc\\git\\cheaseBS_tests\\data\\pm0.3_ncscal4\\129015\\ne_ped_scale_0.700",</a:t>
            </a:r>
          </a:p>
          <a:p xmlns:a="http://schemas.openxmlformats.org/drawingml/2006/main">
            <a:r>
              <a:t>        "axis": "ne_ped_scale",</a:t>
            </a:r>
          </a:p>
          <a:p xmlns:a="http://schemas.openxmlformats.org/drawingml/2006/main">
            <a:r>
              <a:t>        "scale": 0.7,</a:t>
            </a:r>
          </a:p>
          <a:p xmlns:a="http://schemas.openxmlformats.org/drawingml/2006/main">
            <a:r>
              <a:t>        "iterations": 50,</a:t>
            </a:r>
          </a:p>
          <a:p xmlns:a="http://schemas.openxmlformats.org/drawingml/2006/main">
            <a:r>
              <a:t>        "converged": false,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0.7268291784534654,</a:t>
            </a:r>
          </a:p>
          <a:p xmlns:a="http://schemas.openxmlformats.org/drawingml/2006/main">
            <a:r>
              <a:t>            "q": 6.8343775197239225,</a:t>
            </a:r>
          </a:p>
          <a:p xmlns:a="http://schemas.openxmlformats.org/drawingml/2006/main">
            <a:r>
              <a:t>            "shear": 3.926476235034009</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0.7200962636115038,</a:t>
            </a:r>
          </a:p>
          <a:p xmlns:a="http://schemas.openxmlformats.org/drawingml/2006/main">
            <a:r>
              <a:t>            "q": 7.947639878399186,</a:t>
            </a:r>
          </a:p>
          <a:p xmlns:a="http://schemas.openxmlformats.org/drawingml/2006/main">
            <a:r>
              <a:t>            "shear": 3.9572958968531777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0.7629198612591727,</a:t>
            </a:r>
          </a:p>
          <a:p xmlns:a="http://schemas.openxmlformats.org/drawingml/2006/main">
            <a:r>
              <a:t>            "q": 10.675994580511283,</a:t>
            </a:r>
          </a:p>
          <a:p xmlns:a="http://schemas.openxmlformats.org/drawingml/2006/main">
            <a:r>
              <a:t>            "shear": 4.473722429693107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"C:\\Users\\joesc\\git\\cheaseBS_tests\\data\\pm0.3_ncscal4\\129015\\ne_ped_scale_1.000",</a:t>
            </a:r>
          </a:p>
          <a:p xmlns:a="http://schemas.openxmlformats.org/drawingml/2006/main">
            <a:r>
              <a:t>        "axis": "ne_ped_scale",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0.9813888315220717,</a:t>
            </a:r>
          </a:p>
          <a:p xmlns:a="http://schemas.openxmlformats.org/drawingml/2006/main">
            <a:r>
              <a:t>            "q": 6.801420889287426,</a:t>
            </a:r>
          </a:p>
          <a:p xmlns:a="http://schemas.openxmlformats.org/drawingml/2006/main">
            <a:r>
              <a:t>            "shear": 3.894493167080524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0.9809338009975517,</a:t>
            </a:r>
          </a:p>
          <a:p xmlns:a="http://schemas.openxmlformats.org/drawingml/2006/main">
            <a:r>
              <a:t>            "q": 7.906940101804123,</a:t>
            </a:r>
          </a:p>
          <a:p xmlns:a="http://schemas.openxmlformats.org/drawingml/2006/main">
            <a:r>
              <a:t>            "shear": 4.0082103889821505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1.005600450155316,</a:t>
            </a:r>
          </a:p>
          <a:p xmlns:a="http://schemas.openxmlformats.org/drawingml/2006/main">
            <a:r>
              <a:t>            "q": 10.522393769635086,</a:t>
            </a:r>
          </a:p>
          <a:p xmlns:a="http://schemas.openxmlformats.org/drawingml/2006/main">
            <a:r>
              <a:t>            "shear": 4.412390906066833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"C:\\Users\\joesc\\git\\cheaseBS_tests\\data\\pm0.3_ncscal4\\129015\\ne_ped_scale_1.300",</a:t>
            </a:r>
          </a:p>
          <a:p xmlns:a="http://schemas.openxmlformats.org/drawingml/2006/main">
            <a:r>
              <a:t>        "axis": "ne_ped_scale",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1.2421457897601798,</a:t>
            </a:r>
          </a:p>
          <a:p xmlns:a="http://schemas.openxmlformats.org/drawingml/2006/main">
            <a:r>
              <a:t>            "q": 6.81251022130032,</a:t>
            </a:r>
          </a:p>
          <a:p xmlns:a="http://schemas.openxmlformats.org/drawingml/2006/main">
            <a:r>
              <a:t>            "shear": 3.927655589064903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1.240199953375471,</a:t>
            </a:r>
          </a:p>
          <a:p xmlns:a="http://schemas.openxmlformats.org/drawingml/2006/main">
            <a:r>
              <a:t>            "q": 7.932105871804619,</a:t>
            </a:r>
          </a:p>
          <a:p xmlns:a="http://schemas.openxmlformats.org/drawingml/2006/main">
            <a:r>
              <a:t>            "shear": 4.046125999087932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1.2131433575545434,</a:t>
            </a:r>
          </a:p>
          <a:p xmlns:a="http://schemas.openxmlformats.org/drawingml/2006/main">
            <a:r>
              <a:t>            "q": 10.640085761395644,</a:t>
            </a:r>
          </a:p>
          <a:p xmlns:a="http://schemas.openxmlformats.org/drawingml/2006/main">
            <a:r>
              <a:t>            "shear": 4.674107370280973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"C:\\Users\\joesc\\git\\cheaseBS_tests\\data\\pm0.3_ncscal4\\129015\\Te_ped_scale_0.700",</a:t>
            </a:r>
          </a:p>
          <a:p xmlns:a="http://schemas.openxmlformats.org/drawingml/2006/main">
            <a:r>
              <a:t>        "axis": "Te_ped_scale",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0.8068497703383138,</a:t>
            </a:r>
          </a:p>
          <a:p xmlns:a="http://schemas.openxmlformats.org/drawingml/2006/main">
            <a:r>
              <a:t>            "q": 6.831166154795651,</a:t>
            </a:r>
          </a:p>
          <a:p xmlns:a="http://schemas.openxmlformats.org/drawingml/2006/main">
            <a:r>
              <a:t>            "shear": 3.883376214530984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0.8035805750039878,</a:t>
            </a:r>
          </a:p>
          <a:p xmlns:a="http://schemas.openxmlformats.org/drawingml/2006/main">
            <a:r>
              <a:t>            "q": 7.933549454621382,</a:t>
            </a:r>
          </a:p>
          <a:p xmlns:a="http://schemas.openxmlformats.org/drawingml/2006/main">
            <a:r>
              <a:t>            "shear": 3.957618220274256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0.9078063580654069,</a:t>
            </a:r>
          </a:p>
          <a:p xmlns:a="http://schemas.openxmlformats.org/drawingml/2006/main">
            <a:r>
              <a:t>            "q": 10.51400276271765,</a:t>
            </a:r>
          </a:p>
          <a:p xmlns:a="http://schemas.openxmlformats.org/drawingml/2006/main">
            <a:r>
              <a:t>            "shear": 4.327978988010188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"C:\\Users\\joesc\\git\\cheaseBS_tests\\data\\pm0.3_ncscal4\\129015\\Te_ped_scale_1.000",</a:t>
            </a:r>
          </a:p>
          <a:p xmlns:a="http://schemas.openxmlformats.org/drawingml/2006/main">
            <a:r>
              <a:t>        "axis": "Te_ped_scale",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0.9882200644085564,</a:t>
            </a:r>
          </a:p>
          <a:p xmlns:a="http://schemas.openxmlformats.org/drawingml/2006/main">
            <a:r>
              <a:t>            "q": 6.79957086799702,</a:t>
            </a:r>
          </a:p>
          <a:p xmlns:a="http://schemas.openxmlformats.org/drawingml/2006/main">
            <a:r>
              <a:t>            "shear": 3.905786216177174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0.9811283089514407,</a:t>
            </a:r>
          </a:p>
          <a:p xmlns:a="http://schemas.openxmlformats.org/drawingml/2006/main">
            <a:r>
              <a:t>            "q": 7.907300807525324,</a:t>
            </a:r>
          </a:p>
          <a:p xmlns:a="http://schemas.openxmlformats.org/drawingml/2006/main">
            <a:r>
              <a:t>            "shear": 4.010108540345586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1.0095496015708267,</a:t>
            </a:r>
          </a:p>
          <a:p xmlns:a="http://schemas.openxmlformats.org/drawingml/2006/main">
            <a:r>
              <a:t>            "q": 10.519232032594322,</a:t>
            </a:r>
          </a:p>
          <a:p xmlns:a="http://schemas.openxmlformats.org/drawingml/2006/main">
            <a:r>
              <a:t>            "shear": 4.39578800439352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"C:\\Users\\joesc\\git\\cheaseBS_tests\\data\\pm0.3_ncscal4\\129015\\Te_ped_scale_1.300",</a:t>
            </a:r>
          </a:p>
          <a:p xmlns:a="http://schemas.openxmlformats.org/drawingml/2006/main">
            <a:r>
              <a:t>        "axis": "Te_ped_scale",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1.1690904142199168,</a:t>
            </a:r>
          </a:p>
          <a:p xmlns:a="http://schemas.openxmlformats.org/drawingml/2006/main">
            <a:r>
              <a:t>            "q": 6.7670435352357075,</a:t>
            </a:r>
          </a:p>
          <a:p xmlns:a="http://schemas.openxmlformats.org/drawingml/2006/main">
            <a:r>
              <a:t>            "shear": 3.926303122403596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1.1578016684115655,</a:t>
            </a:r>
          </a:p>
          <a:p xmlns:a="http://schemas.openxmlformats.org/drawingml/2006/main">
            <a:r>
              <a:t>            "q": 7.878906276954586,</a:t>
            </a:r>
          </a:p>
          <a:p xmlns:a="http://schemas.openxmlformats.org/drawingml/2006/main">
            <a:r>
              <a:t>            "shear": 4.055765711318818</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1.1056303592543277,</a:t>
            </a:r>
          </a:p>
          <a:p xmlns:a="http://schemas.openxmlformats.org/drawingml/2006/main">
            <a:r>
              <a:t>            "q": 10.561032509452145,</a:t>
            </a:r>
          </a:p>
          <a:p xmlns:a="http://schemas.openxmlformats.org/drawingml/2006/main">
            <a:r>
              <a:t>            "shear": 4.585835937795514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"mtanh_n4w2"</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"Transformations and error traces",</a:t>
            </a:r>
          </a:p>
          <a:p xmlns:a="http://schemas.openxmlformats.org/drawingml/2006/main">
            <a:r>
              <a:t>  "variant": {</a:t>
            </a:r>
          </a:p>
          <a:p xmlns:a="http://schemas.openxmlformats.org/drawingml/2006/main">
            <a:r>
              <a:t>    "id": "n4w0",</a:t>
            </a:r>
          </a:p>
          <a:p xmlns:a="http://schemas.openxmlformats.org/drawingml/2006/main">
            <a:r>
              <a:t>    "title": "129015   NCSCAL = 4, warmup = 0",</a:t>
            </a:r>
          </a:p>
          <a:p xmlns:a="http://schemas.openxmlformats.org/drawingml/2006/main">
            <a:r>
              <a:t>    "color": "#D55E00",</a:t>
            </a:r>
          </a:p>
          <a:p xmlns:a="http://schemas.openxmlformats.org/drawingml/2006/main">
            <a:r>
              <a:t>    "root": "C:\\Users\\joesc\\git\\cheaseBS_tests\\data\\pm0.3_ncscal4_warmup0\\129015",</a:t>
            </a:r>
          </a:p>
          <a:p xmlns:a="http://schemas.openxmlformats.org/drawingml/2006/main">
            <a:r>
              <a:t>    "original_profile_image": "C:\\Users\\joesc\\git\\cheaseBS_tests\\data\\pm0.3_ncscal4_warmup0\\129015_mtanh_full_ped.png",</a:t>
            </a:r>
          </a:p>
          <a:p xmlns:a="http://schemas.openxmlformats.org/drawingml/2006/main">
            <a:r>
              <a:t>    "n": 4,</a:t>
            </a:r>
          </a:p>
          <a:p xmlns:a="http://schemas.openxmlformats.org/drawingml/2006/main">
            <a:r>
              <a:t>    "w": 0,</a:t>
            </a:r>
          </a:p>
          <a:p xmlns:a="http://schemas.openxmlformats.org/drawingml/2006/main">
            <a:r>
              <a:t>    "count": 10,</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"C:\\Users\\joesc\\git\\cheaseBS_tests\\data\\pm0.3_ncscal4_warmup0\\129015\\ne_ped_scale_0.700",</a:t>
            </a:r>
          </a:p>
          <a:p xmlns:a="http://schemas.openxmlformats.org/drawingml/2006/main">
            <a:r>
              <a:t>        "axis": "ne_ped_scale",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0.7192984549260987,</a:t>
            </a:r>
          </a:p>
          <a:p xmlns:a="http://schemas.openxmlformats.org/drawingml/2006/main">
            <a:r>
              <a:t>            "q": 6.784417939918811,</a:t>
            </a:r>
          </a:p>
          <a:p xmlns:a="http://schemas.openxmlformats.org/drawingml/2006/main">
            <a:r>
              <a:t>            "shear": 3.8602131983584034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0.7193524363050984,</a:t>
            </a:r>
          </a:p>
          <a:p xmlns:a="http://schemas.openxmlformats.org/drawingml/2006/main">
            <a:r>
              <a:t>            "q": 7.875215175262731,</a:t>
            </a:r>
          </a:p>
          <a:p xmlns:a="http://schemas.openxmlformats.org/drawingml/2006/main">
            <a:r>
              <a:t>            "shear": 3.971823134561507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0.7888806089605601,</a:t>
            </a:r>
          </a:p>
          <a:p xmlns:a="http://schemas.openxmlformats.org/drawingml/2006/main">
            <a:r>
              <a:t>            "q": 10.429163703237545,</a:t>
            </a:r>
          </a:p>
          <a:p xmlns:a="http://schemas.openxmlformats.org/drawingml/2006/main">
            <a:r>
              <a:t>            "shear": 4.258273479567649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"C:\\Users\\joesc\\git\\cheaseBS_tests\\data\\pm0.3_ncscal4_warmup0\\129015\\ne_ped_scale_0.950",</a:t>
            </a:r>
          </a:p>
          <a:p xmlns:a="http://schemas.openxmlformats.org/drawingml/2006/main">
            <a:r>
              <a:t>        "axis": "ne_ped_scale",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0.9379527898373232,</a:t>
            </a:r>
          </a:p>
          <a:p xmlns:a="http://schemas.openxmlformats.org/drawingml/2006/main">
            <a:r>
              <a:t>            "q": 6.793946998227973,</a:t>
            </a:r>
          </a:p>
          <a:p xmlns:a="http://schemas.openxmlformats.org/drawingml/2006/main">
            <a:r>
              <a:t>            "shear": 3.886840134129277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0.9378790451254123,</a:t>
            </a:r>
          </a:p>
          <a:p xmlns:a="http://schemas.openxmlformats.org/drawingml/2006/main">
            <a:r>
              <a:t>            "q": 7.896131592385044,</a:t>
            </a:r>
          </a:p>
          <a:p xmlns:a="http://schemas.openxmlformats.org/drawingml/2006/main">
            <a:r>
              <a:t>            "shear": 4.005718159110967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0.9718751932375116,</a:t>
            </a:r>
          </a:p>
          <a:p xmlns:a="http://schemas.openxmlformats.org/drawingml/2006/main">
            <a:r>
              <a:t>            "q": 10.507127193797002,</a:t>
            </a:r>
          </a:p>
          <a:p xmlns:a="http://schemas.openxmlformats.org/drawingml/2006/main">
            <a:r>
              <a:t>            "shear": 4.425905320302754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"C:\\Users\\joesc\\git\\cheaseBS_tests\\data\\pm0.3_ncscal4_warmup0\\129015\\ne_ped_scale_1.000",</a:t>
            </a:r>
          </a:p>
          <a:p xmlns:a="http://schemas.openxmlformats.org/drawingml/2006/main">
            <a:r>
              <a:t>        "axis": "ne_ped_scale",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0.9814003899127556,</a:t>
            </a:r>
          </a:p>
          <a:p xmlns:a="http://schemas.openxmlformats.org/drawingml/2006/main">
            <a:r>
              <a:t>            "q": 6.801325876744668,</a:t>
            </a:r>
          </a:p>
          <a:p xmlns:a="http://schemas.openxmlformats.org/drawingml/2006/main">
            <a:r>
              <a:t>            "shear": 3.8944907369366315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0.9809448623384521,</a:t>
            </a:r>
          </a:p>
          <a:p xmlns:a="http://schemas.openxmlformats.org/drawingml/2006/main">
            <a:r>
              <a:t>            "q": 7.906828829230068,</a:t>
            </a:r>
          </a:p>
          <a:p xmlns:a="http://schemas.openxmlformats.org/drawingml/2006/main">
            <a:r>
              <a:t>            "shear": 4.008208040475365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1.0056038071559168,</a:t>
            </a:r>
          </a:p>
          <a:p xmlns:a="http://schemas.openxmlformats.org/drawingml/2006/main">
            <a:r>
              <a:t>            "q": 10.522307172088087,</a:t>
            </a:r>
          </a:p>
          <a:p xmlns:a="http://schemas.openxmlformats.org/drawingml/2006/main">
            <a:r>
              <a:t>            "shear": 4.412599848501599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"C:\\Users\\joesc\\git\\cheaseBS_tests\\data\\pm0.3_ncscal4_warmup0\\129015\\ne_ped_scale_1.050",</a:t>
            </a:r>
          </a:p>
          <a:p xmlns:a="http://schemas.openxmlformats.org/drawingml/2006/main">
            <a:r>
              <a:t>        "axis": "ne_ped_scale",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1.0249065020966623,</a:t>
            </a:r>
          </a:p>
          <a:p xmlns:a="http://schemas.openxmlformats.org/drawingml/2006/main">
            <a:r>
              <a:t>            "q": 6.802621134456635,</a:t>
            </a:r>
          </a:p>
          <a:p xmlns:a="http://schemas.openxmlformats.org/drawingml/2006/main">
            <a:r>
              <a:t>            "shear": 3.8991999470697145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1.024197580920695,</a:t>
            </a:r>
          </a:p>
          <a:p xmlns:a="http://schemas.openxmlformats.org/drawingml/2006/main">
            <a:r>
              <a:t>            "q": 7.910001030079433,</a:t>
            </a:r>
          </a:p>
          <a:p xmlns:a="http://schemas.openxmlformats.org/drawingml/2006/main">
            <a:r>
              <a:t>            "shear": 4.013516717684429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1.0394377325081128,</a:t>
            </a:r>
          </a:p>
          <a:p xmlns:a="http://schemas.openxmlformats.org/drawingml/2006/main">
            <a:r>
              <a:t>            "q": 10.550625223810394,</a:t>
            </a:r>
          </a:p>
          <a:p xmlns:a="http://schemas.openxmlformats.org/drawingml/2006/main">
            <a:r>
              <a:t>            "shear": 4.517976253650191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"C:\\Users\\joesc\\git\\cheaseBS_tests\\data\\pm0.3_ncscal4_warmup0\\129015\\ne_ped_scale_1.300",</a:t>
            </a:r>
          </a:p>
          <a:p xmlns:a="http://schemas.openxmlformats.org/drawingml/2006/main">
            <a:r>
              <a:t>        "axis": "ne_ped_scale",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1.2421295276361124,</a:t>
            </a:r>
          </a:p>
          <a:p xmlns:a="http://schemas.openxmlformats.org/drawingml/2006/main">
            <a:r>
              <a:t>            "q": 6.812611757448568,</a:t>
            </a:r>
          </a:p>
          <a:p xmlns:a="http://schemas.openxmlformats.org/drawingml/2006/main">
            <a:r>
              <a:t>            "shear": 3.9276552199314665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1.2401838303765012,</a:t>
            </a:r>
          </a:p>
          <a:p xmlns:a="http://schemas.openxmlformats.org/drawingml/2006/main">
            <a:r>
              <a:t>            "q": 7.93222312288087,</a:t>
            </a:r>
          </a:p>
          <a:p xmlns:a="http://schemas.openxmlformats.org/drawingml/2006/main">
            <a:r>
              <a:t>            "shear": 4.046110058705157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1.2131302886967523,</a:t>
            </a:r>
          </a:p>
          <a:p xmlns:a="http://schemas.openxmlformats.org/drawingml/2006/main">
            <a:r>
              <a:t>            "q": 10.640229522566102,</a:t>
            </a:r>
          </a:p>
          <a:p xmlns:a="http://schemas.openxmlformats.org/drawingml/2006/main">
            <a:r>
              <a:t>            "shear": 4.6741064396567715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"C:\\Users\\joesc\\git\\cheaseBS_tests\\data\\pm0.3_ncscal4_warmup0\\129015\\Te_ped_scale_0.700",</a:t>
            </a:r>
          </a:p>
          <a:p xmlns:a="http://schemas.openxmlformats.org/drawingml/2006/main">
            <a:r>
              <a:t>        "axis": "Te_ped_scale",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0.8068764926329098,</a:t>
            </a:r>
          </a:p>
          <a:p xmlns:a="http://schemas.openxmlformats.org/drawingml/2006/main">
            <a:r>
              <a:t>            "q": 6.830906606099416,</a:t>
            </a:r>
          </a:p>
          <a:p xmlns:a="http://schemas.openxmlformats.org/drawingml/2006/main">
            <a:r>
              <a:t>            "shear": 3.8833804704557515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0.8036070969665237,</a:t>
            </a:r>
          </a:p>
          <a:p xmlns:a="http://schemas.openxmlformats.org/drawingml/2006/main">
            <a:r>
              <a:t>            "q": 7.933251097960752,</a:t>
            </a:r>
          </a:p>
          <a:p xmlns:a="http://schemas.openxmlformats.org/drawingml/2006/main">
            <a:r>
              <a:t>            "shear": 3.9576409201478544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0.9078318402383487,</a:t>
            </a:r>
          </a:p>
          <a:p xmlns:a="http://schemas.openxmlformats.org/drawingml/2006/main">
            <a:r>
              <a:t>            "q": 10.513645003409394,</a:t>
            </a:r>
          </a:p>
          <a:p xmlns:a="http://schemas.openxmlformats.org/drawingml/2006/main">
            <a:r>
              <a:t>            "shear": 4.3278769615775365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"C:\\Users\\joesc\\git\\cheaseBS_tests\\data\\pm0.3_ncscal4_warmup0\\129015\\Te_ped_scale_0.950",</a:t>
            </a:r>
          </a:p>
          <a:p xmlns:a="http://schemas.openxmlformats.org/drawingml/2006/main">
            <a:r>
              <a:t>        "axis": "Te_ped_scale",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0.9579719538341308,</a:t>
            </a:r>
          </a:p>
          <a:p xmlns:a="http://schemas.openxmlformats.org/drawingml/2006/main">
            <a:r>
              <a:t>            "q": 6.804272446237248,</a:t>
            </a:r>
          </a:p>
          <a:p xmlns:a="http://schemas.openxmlformats.org/drawingml/2006/main">
            <a:r>
              <a:t>            "shear": 3.9015194993433795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0.95145052034898,</a:t>
            </a:r>
          </a:p>
          <a:p xmlns:a="http://schemas.openxmlformats.org/drawingml/2006/main">
            <a:r>
              <a:t>            "q": 7.910749952295064,</a:t>
            </a:r>
          </a:p>
          <a:p xmlns:a="http://schemas.openxmlformats.org/drawingml/2006/main">
            <a:r>
              <a:t>            "shear": 3.999916277502505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0.9916209642557686,</a:t>
            </a:r>
          </a:p>
          <a:p xmlns:a="http://schemas.openxmlformats.org/drawingml/2006/main">
            <a:r>
              <a:t>            "q": 10.525366595025599,</a:t>
            </a:r>
          </a:p>
          <a:p xmlns:a="http://schemas.openxmlformats.org/drawingml/2006/main">
            <a:r>
              <a:t>            "shear": 4.424578659399233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"C:\\Users\\joesc\\git\\cheaseBS_tests\\data\\pm0.3_ncscal4_warmup0\\129015\\Te_ped_scale_1.000",</a:t>
            </a:r>
          </a:p>
          <a:p xmlns:a="http://schemas.openxmlformats.org/drawingml/2006/main">
            <a:r>
              <a:t>        "axis": "Te_ped_scale",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0.9882313722422658,</a:t>
            </a:r>
          </a:p>
          <a:p xmlns:a="http://schemas.openxmlformats.org/drawingml/2006/main">
            <a:r>
              <a:t>            "q": 6.799477092080268,</a:t>
            </a:r>
          </a:p>
          <a:p xmlns:a="http://schemas.openxmlformats.org/drawingml/2006/main">
            <a:r>
              <a:t>            "shear": 3.905782973218318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0.9811389344041063,</a:t>
            </a:r>
          </a:p>
          <a:p xmlns:a="http://schemas.openxmlformats.org/drawingml/2006/main">
            <a:r>
              <a:t>            "q": 7.907190493343389,</a:t>
            </a:r>
          </a:p>
          <a:p xmlns:a="http://schemas.openxmlformats.org/drawingml/2006/main">
            <a:r>
              <a:t>            "shear": 4.01010374778881</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1.009551035182769,</a:t>
            </a:r>
          </a:p>
          <a:p xmlns:a="http://schemas.openxmlformats.org/drawingml/2006/main">
            <a:r>
              <a:t>            "q": 10.519160656586818,</a:t>
            </a:r>
          </a:p>
          <a:p xmlns:a="http://schemas.openxmlformats.org/drawingml/2006/main">
            <a:r>
              <a:t>            "shear": 4.396067087615413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"C:\\Users\\joesc\\git\\cheaseBS_tests\\data\\pm0.3_ncscal4_warmup0\\129015\\Te_ped_scale_1.050",</a:t>
            </a:r>
          </a:p>
          <a:p xmlns:a="http://schemas.openxmlformats.org/drawingml/2006/main">
            <a:r>
              <a:t>        "axis": "Te_ped_scale",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1.0183024933541542,</a:t>
            </a:r>
          </a:p>
          <a:p xmlns:a="http://schemas.openxmlformats.org/drawingml/2006/main">
            <a:r>
              <a:t>            "q": 6.7933146951640815,</a:t>
            </a:r>
          </a:p>
          <a:p xmlns:a="http://schemas.openxmlformats.org/drawingml/2006/main">
            <a:r>
              <a:t>            "shear": 3.9082430553035703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1.0103944735590464,</a:t>
            </a:r>
          </a:p>
          <a:p xmlns:a="http://schemas.openxmlformats.org/drawingml/2006/main">
            <a:r>
              <a:t>            "q": 7.901111578501799,</a:t>
            </a:r>
          </a:p>
          <a:p xmlns:a="http://schemas.openxmlformats.org/drawingml/2006/main">
            <a:r>
              <a:t>            "shear": 4.015562972592553</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1.0236880872546197,</a:t>
            </a:r>
          </a:p>
          <a:p xmlns:a="http://schemas.openxmlformats.org/drawingml/2006/main">
            <a:r>
              <a:t>            "q": 10.539495430159414,</a:t>
            </a:r>
          </a:p>
          <a:p xmlns:a="http://schemas.openxmlformats.org/drawingml/2006/main">
            <a:r>
              <a:t>            "shear": 4.514237981555337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"C:\\Users\\joesc\\git\\cheaseBS_tests\\data\\pm0.3_ncscal4_warmup0\\129015\\Te_ped_scale_1.300",</a:t>
            </a:r>
          </a:p>
          <a:p xmlns:a="http://schemas.openxmlformats.org/drawingml/2006/main">
            <a:r>
              <a:t>        "axis": "Te_ped_scale",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1.1690789444500682,</a:t>
            </a:r>
          </a:p>
          <a:p xmlns:a="http://schemas.openxmlformats.org/drawingml/2006/main">
            <a:r>
              <a:t>            "q": 6.767115870181568,</a:t>
            </a:r>
          </a:p>
          <a:p xmlns:a="http://schemas.openxmlformats.org/drawingml/2006/main">
            <a:r>
              <a:t>            "shear": 3.9263018235230067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1.1577901714624483,</a:t>
            </a:r>
          </a:p>
          <a:p xmlns:a="http://schemas.openxmlformats.org/drawingml/2006/main">
            <a:r>
              <a:t>            "q": 7.878989253275167,</a:t>
            </a:r>
          </a:p>
          <a:p xmlns:a="http://schemas.openxmlformats.org/drawingml/2006/main">
            <a:r>
              <a:t>            "shear": 4.055751360803521</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1.1056194346426265,</a:t>
            </a:r>
          </a:p>
          <a:p xmlns:a="http://schemas.openxmlformats.org/drawingml/2006/main">
            <a:r>
              <a:t>            "q": 10.561155772204287,</a:t>
            </a:r>
          </a:p>
          <a:p xmlns:a="http://schemas.openxmlformats.org/drawingml/2006/main">
            <a:r>
              <a:t>            "shear": 4.585834231507878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"mtanh_n4w0"</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"Iteration counts and pressure chains",</a:t>
            </a:r>
          </a:p>
          <a:p xmlns:a="http://schemas.openxmlformats.org/drawingml/2006/main">
            <a:r>
              <a:t>  "variant": {</a:t>
            </a:r>
          </a:p>
          <a:p xmlns:a="http://schemas.openxmlformats.org/drawingml/2006/main">
            <a:r>
              <a:t>    "id": "n4w0",</a:t>
            </a:r>
          </a:p>
          <a:p xmlns:a="http://schemas.openxmlformats.org/drawingml/2006/main">
            <a:r>
              <a:t>    "title": "129015   NCSCAL = 4, warmup = 0",</a:t>
            </a:r>
          </a:p>
          <a:p xmlns:a="http://schemas.openxmlformats.org/drawingml/2006/main">
            <a:r>
              <a:t>    "color": "#D55E00",</a:t>
            </a:r>
          </a:p>
          <a:p xmlns:a="http://schemas.openxmlformats.org/drawingml/2006/main">
            <a:r>
              <a:t>    "root": "C:\\Users\\joesc\\git\\cheaseBS_tests\\data\\pm0.3_ncscal4_warmup0\\129015",</a:t>
            </a:r>
          </a:p>
          <a:p xmlns:a="http://schemas.openxmlformats.org/drawingml/2006/main">
            <a:r>
              <a:t>    "original_profile_image": "C:\\Users\\joesc\\git\\cheaseBS_tests\\data\\pm0.3_ncscal4_warmup0\\129015_mtanh_full_ped.png",</a:t>
            </a:r>
          </a:p>
          <a:p xmlns:a="http://schemas.openxmlformats.org/drawingml/2006/main">
            <a:r>
              <a:t>    "n": 4,</a:t>
            </a:r>
          </a:p>
          <a:p xmlns:a="http://schemas.openxmlformats.org/drawingml/2006/main">
            <a:r>
              <a:t>    "w": 0,</a:t>
            </a:r>
          </a:p>
          <a:p xmlns:a="http://schemas.openxmlformats.org/drawingml/2006/main">
            <a:r>
              <a:t>    "count": 10,</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"C:\\Users\\joesc\\git\\cheaseBS_tests\\data\\pm0.3_ncscal4_warmup0\\129015\\ne_ped_scale_0.700",</a:t>
            </a:r>
          </a:p>
          <a:p xmlns:a="http://schemas.openxmlformats.org/drawingml/2006/main">
            <a:r>
              <a:t>        "axis": "ne_ped_scale",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0.7192984549260987,</a:t>
            </a:r>
          </a:p>
          <a:p xmlns:a="http://schemas.openxmlformats.org/drawingml/2006/main">
            <a:r>
              <a:t>            "q": 6.784417939918811,</a:t>
            </a:r>
          </a:p>
          <a:p xmlns:a="http://schemas.openxmlformats.org/drawingml/2006/main">
            <a:r>
              <a:t>            "shear": 3.8602131983584034</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0.7193524363050984,</a:t>
            </a:r>
          </a:p>
          <a:p xmlns:a="http://schemas.openxmlformats.org/drawingml/2006/main">
            <a:r>
              <a:t>            "q": 7.875215175262731,</a:t>
            </a:r>
          </a:p>
          <a:p xmlns:a="http://schemas.openxmlformats.org/drawingml/2006/main">
            <a:r>
              <a:t>            "shear": 3.971823134561507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0.7888806089605601,</a:t>
            </a:r>
          </a:p>
          <a:p xmlns:a="http://schemas.openxmlformats.org/drawingml/2006/main">
            <a:r>
              <a:t>            "q": 10.429163703237545,</a:t>
            </a:r>
          </a:p>
          <a:p xmlns:a="http://schemas.openxmlformats.org/drawingml/2006/main">
            <a:r>
              <a:t>            "shear": 4.258273479567649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"C:\\Users\\joesc\\git\\cheaseBS_tests\\data\\pm0.3_ncscal4_warmup0\\129015\\ne_ped_scale_0.950",</a:t>
            </a:r>
          </a:p>
          <a:p xmlns:a="http://schemas.openxmlformats.org/drawingml/2006/main">
            <a:r>
              <a:t>        "axis": "ne_ped_scale",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0.9379527898373232,</a:t>
            </a:r>
          </a:p>
          <a:p xmlns:a="http://schemas.openxmlformats.org/drawingml/2006/main">
            <a:r>
              <a:t>            "q": 6.793946998227973,</a:t>
            </a:r>
          </a:p>
          <a:p xmlns:a="http://schemas.openxmlformats.org/drawingml/2006/main">
            <a:r>
              <a:t>            "shear": 3.886840134129277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0.9378790451254123,</a:t>
            </a:r>
          </a:p>
          <a:p xmlns:a="http://schemas.openxmlformats.org/drawingml/2006/main">
            <a:r>
              <a:t>            "q": 7.896131592385044,</a:t>
            </a:r>
          </a:p>
          <a:p xmlns:a="http://schemas.openxmlformats.org/drawingml/2006/main">
            <a:r>
              <a:t>            "shear": 4.005718159110967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0.9718751932375116,</a:t>
            </a:r>
          </a:p>
          <a:p xmlns:a="http://schemas.openxmlformats.org/drawingml/2006/main">
            <a:r>
              <a:t>            "q": 10.507127193797002,</a:t>
            </a:r>
          </a:p>
          <a:p xmlns:a="http://schemas.openxmlformats.org/drawingml/2006/main">
            <a:r>
              <a:t>            "shear": 4.425905320302754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"C:\\Users\\joesc\\git\\cheaseBS_tests\\data\\pm0.3_ncscal4_warmup0\\129015\\ne_ped_scale_1.000",</a:t>
            </a:r>
          </a:p>
          <a:p xmlns:a="http://schemas.openxmlformats.org/drawingml/2006/main">
            <a:r>
              <a:t>        "axis": "ne_ped_scale",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0.9814003899127556,</a:t>
            </a:r>
          </a:p>
          <a:p xmlns:a="http://schemas.openxmlformats.org/drawingml/2006/main">
            <a:r>
              <a:t>            "q": 6.801325876744668,</a:t>
            </a:r>
          </a:p>
          <a:p xmlns:a="http://schemas.openxmlformats.org/drawingml/2006/main">
            <a:r>
              <a:t>            "shear": 3.8944907369366315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0.9809448623384521,</a:t>
            </a:r>
          </a:p>
          <a:p xmlns:a="http://schemas.openxmlformats.org/drawingml/2006/main">
            <a:r>
              <a:t>            "q": 7.906828829230068,</a:t>
            </a:r>
          </a:p>
          <a:p xmlns:a="http://schemas.openxmlformats.org/drawingml/2006/main">
            <a:r>
              <a:t>            "shear": 4.008208040475365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1.0056038071559168,</a:t>
            </a:r>
          </a:p>
          <a:p xmlns:a="http://schemas.openxmlformats.org/drawingml/2006/main">
            <a:r>
              <a:t>            "q": 10.522307172088087,</a:t>
            </a:r>
          </a:p>
          <a:p xmlns:a="http://schemas.openxmlformats.org/drawingml/2006/main">
            <a:r>
              <a:t>            "shear": 4.412599848501599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"C:\\Users\\joesc\\git\\cheaseBS_tests\\data\\pm0.3_ncscal4_warmup0\\129015\\ne_ped_scale_1.050",</a:t>
            </a:r>
          </a:p>
          <a:p xmlns:a="http://schemas.openxmlformats.org/drawingml/2006/main">
            <a:r>
              <a:t>        "axis": "ne_ped_scale",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1.0249065020966623,</a:t>
            </a:r>
          </a:p>
          <a:p xmlns:a="http://schemas.openxmlformats.org/drawingml/2006/main">
            <a:r>
              <a:t>            "q": 6.802621134456635,</a:t>
            </a:r>
          </a:p>
          <a:p xmlns:a="http://schemas.openxmlformats.org/drawingml/2006/main">
            <a:r>
              <a:t>            "shear": 3.8991999470697145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1.024197580920695,</a:t>
            </a:r>
          </a:p>
          <a:p xmlns:a="http://schemas.openxmlformats.org/drawingml/2006/main">
            <a:r>
              <a:t>            "q": 7.910001030079433,</a:t>
            </a:r>
          </a:p>
          <a:p xmlns:a="http://schemas.openxmlformats.org/drawingml/2006/main">
            <a:r>
              <a:t>            "shear": 4.013516717684429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1.0394377325081128,</a:t>
            </a:r>
          </a:p>
          <a:p xmlns:a="http://schemas.openxmlformats.org/drawingml/2006/main">
            <a:r>
              <a:t>            "q": 10.550625223810394,</a:t>
            </a:r>
          </a:p>
          <a:p xmlns:a="http://schemas.openxmlformats.org/drawingml/2006/main">
            <a:r>
              <a:t>            "shear": 4.517976253650191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"C:\\Users\\joesc\\git\\cheaseBS_tests\\data\\pm0.3_ncscal4_warmup0\\129015\\ne_ped_scale_1.300",</a:t>
            </a:r>
          </a:p>
          <a:p xmlns:a="http://schemas.openxmlformats.org/drawingml/2006/main">
            <a:r>
              <a:t>        "axis": "ne_ped_scale",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1.2421295276361124,</a:t>
            </a:r>
          </a:p>
          <a:p xmlns:a="http://schemas.openxmlformats.org/drawingml/2006/main">
            <a:r>
              <a:t>            "q": 6.812611757448568,</a:t>
            </a:r>
          </a:p>
          <a:p xmlns:a="http://schemas.openxmlformats.org/drawingml/2006/main">
            <a:r>
              <a:t>            "shear": 3.9276552199314665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1.2401838303765012,</a:t>
            </a:r>
          </a:p>
          <a:p xmlns:a="http://schemas.openxmlformats.org/drawingml/2006/main">
            <a:r>
              <a:t>            "q": 7.93222312288087,</a:t>
            </a:r>
          </a:p>
          <a:p xmlns:a="http://schemas.openxmlformats.org/drawingml/2006/main">
            <a:r>
              <a:t>            "shear": 4.046110058705157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1.2131302886967523,</a:t>
            </a:r>
          </a:p>
          <a:p xmlns:a="http://schemas.openxmlformats.org/drawingml/2006/main">
            <a:r>
              <a:t>            "q": 10.640229522566102,</a:t>
            </a:r>
          </a:p>
          <a:p xmlns:a="http://schemas.openxmlformats.org/drawingml/2006/main">
            <a:r>
              <a:t>            "shear": 4.6741064396567715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"C:\\Users\\joesc\\git\\cheaseBS_tests\\data\\pm0.3_ncscal4_warmup0\\129015\\Te_ped_scale_0.700",</a:t>
            </a:r>
          </a:p>
          <a:p xmlns:a="http://schemas.openxmlformats.org/drawingml/2006/main">
            <a:r>
              <a:t>        "axis": "Te_ped_scale",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0.8068764926329098,</a:t>
            </a:r>
          </a:p>
          <a:p xmlns:a="http://schemas.openxmlformats.org/drawingml/2006/main">
            <a:r>
              <a:t>            "q": 6.830906606099416,</a:t>
            </a:r>
          </a:p>
          <a:p xmlns:a="http://schemas.openxmlformats.org/drawingml/2006/main">
            <a:r>
              <a:t>            "shear": 3.8833804704557515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0.8036070969665237,</a:t>
            </a:r>
          </a:p>
          <a:p xmlns:a="http://schemas.openxmlformats.org/drawingml/2006/main">
            <a:r>
              <a:t>            "q": 7.933251097960752,</a:t>
            </a:r>
          </a:p>
          <a:p xmlns:a="http://schemas.openxmlformats.org/drawingml/2006/main">
            <a:r>
              <a:t>            "shear": 3.9576409201478544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0.9078318402383487,</a:t>
            </a:r>
          </a:p>
          <a:p xmlns:a="http://schemas.openxmlformats.org/drawingml/2006/main">
            <a:r>
              <a:t>            "q": 10.513645003409394,</a:t>
            </a:r>
          </a:p>
          <a:p xmlns:a="http://schemas.openxmlformats.org/drawingml/2006/main">
            <a:r>
              <a:t>            "shear": 4.3278769615775365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"C:\\Users\\joesc\\git\\cheaseBS_tests\\data\\pm0.3_ncscal4_warmup0\\129015\\Te_ped_scale_0.950",</a:t>
            </a:r>
          </a:p>
          <a:p xmlns:a="http://schemas.openxmlformats.org/drawingml/2006/main">
            <a:r>
              <a:t>        "axis": "Te_ped_scale",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0.9579719538341308,</a:t>
            </a:r>
          </a:p>
          <a:p xmlns:a="http://schemas.openxmlformats.org/drawingml/2006/main">
            <a:r>
              <a:t>            "q": 6.804272446237248,</a:t>
            </a:r>
          </a:p>
          <a:p xmlns:a="http://schemas.openxmlformats.org/drawingml/2006/main">
            <a:r>
              <a:t>            "shear": 3.9015194993433795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0.95145052034898,</a:t>
            </a:r>
          </a:p>
          <a:p xmlns:a="http://schemas.openxmlformats.org/drawingml/2006/main">
            <a:r>
              <a:t>            "q": 7.910749952295064,</a:t>
            </a:r>
          </a:p>
          <a:p xmlns:a="http://schemas.openxmlformats.org/drawingml/2006/main">
            <a:r>
              <a:t>            "shear": 3.999916277502505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0.9916209642557686,</a:t>
            </a:r>
          </a:p>
          <a:p xmlns:a="http://schemas.openxmlformats.org/drawingml/2006/main">
            <a:r>
              <a:t>            "q": 10.525366595025599,</a:t>
            </a:r>
          </a:p>
          <a:p xmlns:a="http://schemas.openxmlformats.org/drawingml/2006/main">
            <a:r>
              <a:t>            "shear": 4.424578659399233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"C:\\Users\\joesc\\git\\cheaseBS_tests\\data\\pm0.3_ncscal4_warmup0\\129015\\Te_ped_scale_1.000",</a:t>
            </a:r>
          </a:p>
          <a:p xmlns:a="http://schemas.openxmlformats.org/drawingml/2006/main">
            <a:r>
              <a:t>        "axis": "Te_ped_scale",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0.9882313722422658,</a:t>
            </a:r>
          </a:p>
          <a:p xmlns:a="http://schemas.openxmlformats.org/drawingml/2006/main">
            <a:r>
              <a:t>            "q": 6.799477092080268,</a:t>
            </a:r>
          </a:p>
          <a:p xmlns:a="http://schemas.openxmlformats.org/drawingml/2006/main">
            <a:r>
              <a:t>            "shear": 3.905782973218318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0.9811389344041063,</a:t>
            </a:r>
          </a:p>
          <a:p xmlns:a="http://schemas.openxmlformats.org/drawingml/2006/main">
            <a:r>
              <a:t>            "q": 7.907190493343389,</a:t>
            </a:r>
          </a:p>
          <a:p xmlns:a="http://schemas.openxmlformats.org/drawingml/2006/main">
            <a:r>
              <a:t>            "shear": 4.01010374778881</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1.009551035182769,</a:t>
            </a:r>
          </a:p>
          <a:p xmlns:a="http://schemas.openxmlformats.org/drawingml/2006/main">
            <a:r>
              <a:t>            "q": 10.519160656586818,</a:t>
            </a:r>
          </a:p>
          <a:p xmlns:a="http://schemas.openxmlformats.org/drawingml/2006/main">
            <a:r>
              <a:t>            "shear": 4.396067087615413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"C:\\Users\\joesc\\git\\cheaseBS_tests\\data\\pm0.3_ncscal4_warmup0\\129015\\Te_ped_scale_1.050",</a:t>
            </a:r>
          </a:p>
          <a:p xmlns:a="http://schemas.openxmlformats.org/drawingml/2006/main">
            <a:r>
              <a:t>        "axis": "Te_ped_scale",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1.0183024933541542,</a:t>
            </a:r>
          </a:p>
          <a:p xmlns:a="http://schemas.openxmlformats.org/drawingml/2006/main">
            <a:r>
              <a:t>            "q": 6.7933146951640815,</a:t>
            </a:r>
          </a:p>
          <a:p xmlns:a="http://schemas.openxmlformats.org/drawingml/2006/main">
            <a:r>
              <a:t>            "shear": 3.9082430553035703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1.0103944735590464,</a:t>
            </a:r>
          </a:p>
          <a:p xmlns:a="http://schemas.openxmlformats.org/drawingml/2006/main">
            <a:r>
              <a:t>            "q": 7.901111578501799,</a:t>
            </a:r>
          </a:p>
          <a:p xmlns:a="http://schemas.openxmlformats.org/drawingml/2006/main">
            <a:r>
              <a:t>            "shear": 4.015562972592553</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1.0236880872546197,</a:t>
            </a:r>
          </a:p>
          <a:p xmlns:a="http://schemas.openxmlformats.org/drawingml/2006/main">
            <a:r>
              <a:t>            "q": 10.539495430159414,</a:t>
            </a:r>
          </a:p>
          <a:p xmlns:a="http://schemas.openxmlformats.org/drawingml/2006/main">
            <a:r>
              <a:t>            "shear": 4.514237981555337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"C:\\Users\\joesc\\git\\cheaseBS_tests\\data\\pm0.3_ncscal4_warmup0\\129015\\Te_ped_scale_1.300",</a:t>
            </a:r>
          </a:p>
          <a:p xmlns:a="http://schemas.openxmlformats.org/drawingml/2006/main">
            <a:r>
              <a:t>        "axis": "Te_ped_scale",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1.1690789444500682,</a:t>
            </a:r>
          </a:p>
          <a:p xmlns:a="http://schemas.openxmlformats.org/drawingml/2006/main">
            <a:r>
              <a:t>            "q": 6.767115870181568,</a:t>
            </a:r>
          </a:p>
          <a:p xmlns:a="http://schemas.openxmlformats.org/drawingml/2006/main">
            <a:r>
              <a:t>            "shear": 3.9263018235230067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1.1577901714624483,</a:t>
            </a:r>
          </a:p>
          <a:p xmlns:a="http://schemas.openxmlformats.org/drawingml/2006/main">
            <a:r>
              <a:t>            "q": 7.878989253275167,</a:t>
            </a:r>
          </a:p>
          <a:p xmlns:a="http://schemas.openxmlformats.org/drawingml/2006/main">
            <a:r>
              <a:t>            "shear": 4.055751360803521</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1.1056194346426265,</a:t>
            </a:r>
          </a:p>
          <a:p xmlns:a="http://schemas.openxmlformats.org/drawingml/2006/main">
            <a:r>
              <a:t>            "q": 10.561155772204287,</a:t>
            </a:r>
          </a:p>
          <a:p xmlns:a="http://schemas.openxmlformats.org/drawingml/2006/main">
            <a:r>
              <a:t>            "shear": 4.585834231507878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"mtanh_n4w0"</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"mtanh",</a:t>
            </a:r>
          </a:p>
          <a:p xmlns:a="http://schemas.openxmlformats.org/drawingml/2006/main">
            <a:r>
              <a:t>  "part": "All variants, with marker-border coding",</a:t>
            </a:r>
          </a:p>
          <a:p xmlns:a="http://schemas.openxmlformats.org/drawingml/2006/main">
            <a:r>
              <a:t>  "variant": null,</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"apply_omX",</a:t>
            </a:r>
          </a:p>
          <a:p xmlns:a="http://schemas.openxmlformats.org/drawingml/2006/main">
            <a:r>
              <a:t>  "part": "Transformations and error traces",</a:t>
            </a:r>
          </a:p>
          <a:p xmlns:a="http://schemas.openxmlformats.org/drawingml/2006/main">
            <a:r>
              <a:t>  "variant": {</a:t>
            </a:r>
          </a:p>
          <a:p xmlns:a="http://schemas.openxmlformats.org/drawingml/2006/main">
            <a:r>
              <a:t>    "id": "n4w2",</a:t>
            </a:r>
          </a:p>
          <a:p xmlns:a="http://schemas.openxmlformats.org/drawingml/2006/main">
            <a:r>
              <a:t>    "title": "129015   NCSCAL = 4, warmup = 2",</a:t>
            </a:r>
          </a:p>
          <a:p xmlns:a="http://schemas.openxmlformats.org/drawingml/2006/main">
            <a:r>
              <a:t>    "color": "#A23BB1",</a:t>
            </a:r>
          </a:p>
          <a:p xmlns:a="http://schemas.openxmlformats.org/drawingml/2006/main">
            <a:r>
              <a:t>    "root": "C:\\Users\\joesc\\git\\cheaseBS_tests\\data\\pm0.3_ncscal4\\129015",</a:t>
            </a:r>
          </a:p>
          <a:p xmlns:a="http://schemas.openxmlformats.org/drawingml/2006/main">
            <a:r>
              <a:t>    "original_profile_image": "C:\\Users\\joesc\\git\\cheaseBS_tests\\data\\pm0.3_ncscal4\\129015_mtanh_full_ped.png",</a:t>
            </a:r>
          </a:p>
          <a:p xmlns:a="http://schemas.openxmlformats.org/drawingml/2006/main">
            <a:r>
              <a:t>    "n": 4,</a:t>
            </a:r>
          </a:p>
          <a:p xmlns:a="http://schemas.openxmlformats.org/drawingml/2006/main">
            <a:r>
              <a:t>    "w": 2,</a:t>
            </a:r>
          </a:p>
          <a:p xmlns:a="http://schemas.openxmlformats.org/drawingml/2006/main">
            <a:r>
              <a:t>    "count": 6,</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"C:\\Users\\joesc\\git\\cheaseBS_tests\\data\\pm0.3_ncscal4\\129015\\omne_0.700",</a:t>
            </a:r>
          </a:p>
          <a:p xmlns:a="http://schemas.openxmlformats.org/drawingml/2006/main">
            <a:r>
              <a:t>        "axis": "omne",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0.7867563544870043,</a:t>
            </a:r>
          </a:p>
          <a:p xmlns:a="http://schemas.openxmlformats.org/drawingml/2006/main">
            <a:r>
              <a:t>            "q": 6.847250916008155,</a:t>
            </a:r>
          </a:p>
          <a:p xmlns:a="http://schemas.openxmlformats.org/drawingml/2006/main">
            <a:r>
              <a:t>            "shear": 3.9035523112962918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0.7647700892950507,</a:t>
            </a:r>
          </a:p>
          <a:p xmlns:a="http://schemas.openxmlformats.org/drawingml/2006/main">
            <a:r>
              <a:t>            "q": 7.957424144864555,</a:t>
            </a:r>
          </a:p>
          <a:p xmlns:a="http://schemas.openxmlformats.org/drawingml/2006/main">
            <a:r>
              <a:t>            "shear": 3.966456269629162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0.8199056697138647,</a:t>
            </a:r>
          </a:p>
          <a:p xmlns:a="http://schemas.openxmlformats.org/drawingml/2006/main">
            <a:r>
              <a:t>            "q": 10.540812338468212,</a:t>
            </a:r>
          </a:p>
          <a:p xmlns:a="http://schemas.openxmlformats.org/drawingml/2006/main">
            <a:r>
              <a:t>            "shear": 4.27675590068881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"C:\\Users\\joesc\\git\\cheaseBS_tests\\data\\pm0.3_ncscal4\\129015\\omne_1.000",</a:t>
            </a:r>
          </a:p>
          <a:p xmlns:a="http://schemas.openxmlformats.org/drawingml/2006/main">
            <a:r>
              <a:t>        "axis": "omne",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0.9858989562413545,</a:t>
            </a:r>
          </a:p>
          <a:p xmlns:a="http://schemas.openxmlformats.org/drawingml/2006/main">
            <a:r>
              <a:t>            "q": 6.80044334386391,</a:t>
            </a:r>
          </a:p>
          <a:p xmlns:a="http://schemas.openxmlformats.org/drawingml/2006/main">
            <a:r>
              <a:t>            "shear": 3.8972219441120926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0.9836673095771666,</a:t>
            </a:r>
          </a:p>
          <a:p xmlns:a="http://schemas.openxmlformats.org/drawingml/2006/main">
            <a:r>
              <a:t>            "q": 7.906543556845907,</a:t>
            </a:r>
          </a:p>
          <a:p xmlns:a="http://schemas.openxmlformats.org/drawingml/2006/main">
            <a:r>
              <a:t>            "shear": 4.008555249877127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1.0147977749987949,</a:t>
            </a:r>
          </a:p>
          <a:p xmlns:a="http://schemas.openxmlformats.org/drawingml/2006/main">
            <a:r>
              <a:t>            "q": 10.521699060288627,</a:t>
            </a:r>
          </a:p>
          <a:p xmlns:a="http://schemas.openxmlformats.org/drawingml/2006/main">
            <a:r>
              <a:t>            "shear": 4.41102845426577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"C:\\Users\\joesc\\git\\cheaseBS_tests\\data\\pm0.3_ncscal4\\129015\\omne_1.300",</a:t>
            </a:r>
          </a:p>
          <a:p xmlns:a="http://schemas.openxmlformats.org/drawingml/2006/main">
            <a:r>
              <a:t>        "axis": "omne",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1.2369801042855337,</a:t>
            </a:r>
          </a:p>
          <a:p xmlns:a="http://schemas.openxmlformats.org/drawingml/2006/main">
            <a:r>
              <a:t>            "q": 6.736093085970909,</a:t>
            </a:r>
          </a:p>
          <a:p xmlns:a="http://schemas.openxmlformats.org/drawingml/2006/main">
            <a:r>
              <a:t>            "shear": 3.875451006345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1.2687581722551315,</a:t>
            </a:r>
          </a:p>
          <a:p xmlns:a="http://schemas.openxmlformats.org/drawingml/2006/main">
            <a:r>
              <a:t>            "q": 7.83289475281775,</a:t>
            </a:r>
          </a:p>
          <a:p xmlns:a="http://schemas.openxmlformats.org/drawingml/2006/main">
            <a:r>
              <a:t>            "shear": 4.0522928187811305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1.257837484407978,</a:t>
            </a:r>
          </a:p>
          <a:p xmlns:a="http://schemas.openxmlformats.org/drawingml/2006/main">
            <a:r>
              <a:t>            "q": 10.503832355919593,</a:t>
            </a:r>
          </a:p>
          <a:p xmlns:a="http://schemas.openxmlformats.org/drawingml/2006/main">
            <a:r>
              <a:t>            "shear": 4.720373454236804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"C:\\Users\\joesc\\git\\cheaseBS_tests\\data\\pm0.3_ncscal4\\129015\\omt_0.700",</a:t>
            </a:r>
          </a:p>
          <a:p xmlns:a="http://schemas.openxmlformats.org/drawingml/2006/main">
            <a:r>
              <a:t>        "axis": "omt",</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0.7865923533999624,</a:t>
            </a:r>
          </a:p>
          <a:p xmlns:a="http://schemas.openxmlformats.org/drawingml/2006/main">
            <a:r>
              <a:t>            "q": 6.840828256723431,</a:t>
            </a:r>
          </a:p>
          <a:p xmlns:a="http://schemas.openxmlformats.org/drawingml/2006/main">
            <a:r>
              <a:t>            "shear": 3.892403381508061</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0.7766872464343215,</a:t>
            </a:r>
          </a:p>
          <a:p xmlns:a="http://schemas.openxmlformats.org/drawingml/2006/main">
            <a:r>
              <a:t>            "q": 7.946067089894879,</a:t>
            </a:r>
          </a:p>
          <a:p xmlns:a="http://schemas.openxmlformats.org/drawingml/2006/main">
            <a:r>
              <a:t>            "shear": 3.9541926601085486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0.9072347354718857,</a:t>
            </a:r>
          </a:p>
          <a:p xmlns:a="http://schemas.openxmlformats.org/drawingml/2006/main">
            <a:r>
              <a:t>            "q": 10.523764312378415,</a:t>
            </a:r>
          </a:p>
          <a:p xmlns:a="http://schemas.openxmlformats.org/drawingml/2006/main">
            <a:r>
              <a:t>            "shear": 4.307612196256843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"C:\\Users\\joesc\\git\\cheaseBS_tests\\data\\pm0.3_ncscal4\\129015\\omt_1.000",</a:t>
            </a:r>
          </a:p>
          <a:p xmlns:a="http://schemas.openxmlformats.org/drawingml/2006/main">
            <a:r>
              <a:t>        "axis": "omt",</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0.9858989562413545,</a:t>
            </a:r>
          </a:p>
          <a:p xmlns:a="http://schemas.openxmlformats.org/drawingml/2006/main">
            <a:r>
              <a:t>            "q": 6.80044334386391,</a:t>
            </a:r>
          </a:p>
          <a:p xmlns:a="http://schemas.openxmlformats.org/drawingml/2006/main">
            <a:r>
              <a:t>            "shear": 3.8972219441120926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0.9836673095771666,</a:t>
            </a:r>
          </a:p>
          <a:p xmlns:a="http://schemas.openxmlformats.org/drawingml/2006/main">
            <a:r>
              <a:t>            "q": 7.906543556845907,</a:t>
            </a:r>
          </a:p>
          <a:p xmlns:a="http://schemas.openxmlformats.org/drawingml/2006/main">
            <a:r>
              <a:t>            "shear": 4.008555249877127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1.0147977749987949,</a:t>
            </a:r>
          </a:p>
          <a:p xmlns:a="http://schemas.openxmlformats.org/drawingml/2006/main">
            <a:r>
              <a:t>            "q": 10.521699060288627,</a:t>
            </a:r>
          </a:p>
          <a:p xmlns:a="http://schemas.openxmlformats.org/drawingml/2006/main">
            <a:r>
              <a:t>            "shear": 4.41102845426577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"C:\\Users\\joesc\\git\\cheaseBS_tests\\data\\pm0.3_ncscal4\\129015\\omt_1.300",</a:t>
            </a:r>
          </a:p>
          <a:p xmlns:a="http://schemas.openxmlformats.org/drawingml/2006/main">
            <a:r>
              <a:t>        "axis": "omt",</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1.2645968867927264,</a:t>
            </a:r>
          </a:p>
          <a:p xmlns:a="http://schemas.openxmlformats.org/drawingml/2006/main">
            <a:r>
              <a:t>            "q": 6.734896814696426,</a:t>
            </a:r>
          </a:p>
          <a:p xmlns:a="http://schemas.openxmlformats.org/drawingml/2006/main">
            <a:r>
              <a:t>            "shear": 3.8852618015830642</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1.2834096189964188,</a:t>
            </a:r>
          </a:p>
          <a:p xmlns:a="http://schemas.openxmlformats.org/drawingml/2006/main">
            <a:r>
              <a:t>            "q": 7.83669168831512,</a:t>
            </a:r>
          </a:p>
          <a:p xmlns:a="http://schemas.openxmlformats.org/drawingml/2006/main">
            <a:r>
              <a:t>            "shear": 4.081558153417292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1.151174508018525,</a:t>
            </a:r>
          </a:p>
          <a:p xmlns:a="http://schemas.openxmlformats.org/drawingml/2006/main">
            <a:r>
              <a:t>            "q": 10.536049195963793,</a:t>
            </a:r>
          </a:p>
          <a:p xmlns:a="http://schemas.openxmlformats.org/drawingml/2006/main">
            <a:r>
              <a:t>            "shear": 4.670703852305721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"apply_omX_n4w2"</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"apply_omX",</a:t>
            </a:r>
          </a:p>
          <a:p xmlns:a="http://schemas.openxmlformats.org/drawingml/2006/main">
            <a:r>
              <a:t>  "part": "Iteration counts and pressure chains",</a:t>
            </a:r>
          </a:p>
          <a:p xmlns:a="http://schemas.openxmlformats.org/drawingml/2006/main">
            <a:r>
              <a:t>  "variant": {</a:t>
            </a:r>
          </a:p>
          <a:p xmlns:a="http://schemas.openxmlformats.org/drawingml/2006/main">
            <a:r>
              <a:t>    "id": "n4w2",</a:t>
            </a:r>
          </a:p>
          <a:p xmlns:a="http://schemas.openxmlformats.org/drawingml/2006/main">
            <a:r>
              <a:t>    "title": "129015   NCSCAL = 4, warmup = 2",</a:t>
            </a:r>
          </a:p>
          <a:p xmlns:a="http://schemas.openxmlformats.org/drawingml/2006/main">
            <a:r>
              <a:t>    "color": "#A23BB1",</a:t>
            </a:r>
          </a:p>
          <a:p xmlns:a="http://schemas.openxmlformats.org/drawingml/2006/main">
            <a:r>
              <a:t>    "root": "C:\\Users\\joesc\\git\\cheaseBS_tests\\data\\pm0.3_ncscal4\\129015",</a:t>
            </a:r>
          </a:p>
          <a:p xmlns:a="http://schemas.openxmlformats.org/drawingml/2006/main">
            <a:r>
              <a:t>    "original_profile_image": "C:\\Users\\joesc\\git\\cheaseBS_tests\\data\\pm0.3_ncscal4\\129015_mtanh_full_ped.png",</a:t>
            </a:r>
          </a:p>
          <a:p xmlns:a="http://schemas.openxmlformats.org/drawingml/2006/main">
            <a:r>
              <a:t>    "n": 4,</a:t>
            </a:r>
          </a:p>
          <a:p xmlns:a="http://schemas.openxmlformats.org/drawingml/2006/main">
            <a:r>
              <a:t>    "w": 2,</a:t>
            </a:r>
          </a:p>
          <a:p xmlns:a="http://schemas.openxmlformats.org/drawingml/2006/main">
            <a:r>
              <a:t>    "count": 6,</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"C:\\Users\\joesc\\git\\cheaseBS_tests\\data\\pm0.3_ncscal4\\129015\\omne_0.700",</a:t>
            </a:r>
          </a:p>
          <a:p xmlns:a="http://schemas.openxmlformats.org/drawingml/2006/main">
            <a:r>
              <a:t>        "axis": "omne",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0.7867563544870043,</a:t>
            </a:r>
          </a:p>
          <a:p xmlns:a="http://schemas.openxmlformats.org/drawingml/2006/main">
            <a:r>
              <a:t>            "q": 6.847250916008155,</a:t>
            </a:r>
          </a:p>
          <a:p xmlns:a="http://schemas.openxmlformats.org/drawingml/2006/main">
            <a:r>
              <a:t>            "shear": 3.9035523112962918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0.7647700892950507,</a:t>
            </a:r>
          </a:p>
          <a:p xmlns:a="http://schemas.openxmlformats.org/drawingml/2006/main">
            <a:r>
              <a:t>            "q": 7.957424144864555,</a:t>
            </a:r>
          </a:p>
          <a:p xmlns:a="http://schemas.openxmlformats.org/drawingml/2006/main">
            <a:r>
              <a:t>            "shear": 3.966456269629162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0.8199056697138647,</a:t>
            </a:r>
          </a:p>
          <a:p xmlns:a="http://schemas.openxmlformats.org/drawingml/2006/main">
            <a:r>
              <a:t>            "q": 10.540812338468212,</a:t>
            </a:r>
          </a:p>
          <a:p xmlns:a="http://schemas.openxmlformats.org/drawingml/2006/main">
            <a:r>
              <a:t>            "shear": 4.27675590068881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"C:\\Users\\joesc\\git\\cheaseBS_tests\\data\\pm0.3_ncscal4\\129015\\omne_1.000",</a:t>
            </a:r>
          </a:p>
          <a:p xmlns:a="http://schemas.openxmlformats.org/drawingml/2006/main">
            <a:r>
              <a:t>        "axis": "omne",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0.9858989562413545,</a:t>
            </a:r>
          </a:p>
          <a:p xmlns:a="http://schemas.openxmlformats.org/drawingml/2006/main">
            <a:r>
              <a:t>            "q": 6.80044334386391,</a:t>
            </a:r>
          </a:p>
          <a:p xmlns:a="http://schemas.openxmlformats.org/drawingml/2006/main">
            <a:r>
              <a:t>            "shear": 3.8972219441120926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0.9836673095771666,</a:t>
            </a:r>
          </a:p>
          <a:p xmlns:a="http://schemas.openxmlformats.org/drawingml/2006/main">
            <a:r>
              <a:t>            "q": 7.906543556845907,</a:t>
            </a:r>
          </a:p>
          <a:p xmlns:a="http://schemas.openxmlformats.org/drawingml/2006/main">
            <a:r>
              <a:t>            "shear": 4.008555249877127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1.0147977749987949,</a:t>
            </a:r>
          </a:p>
          <a:p xmlns:a="http://schemas.openxmlformats.org/drawingml/2006/main">
            <a:r>
              <a:t>            "q": 10.521699060288627,</a:t>
            </a:r>
          </a:p>
          <a:p xmlns:a="http://schemas.openxmlformats.org/drawingml/2006/main">
            <a:r>
              <a:t>            "shear": 4.41102845426577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"C:\\Users\\joesc\\git\\cheaseBS_tests\\data\\pm0.3_ncscal4\\129015\\omne_1.300",</a:t>
            </a:r>
          </a:p>
          <a:p xmlns:a="http://schemas.openxmlformats.org/drawingml/2006/main">
            <a:r>
              <a:t>        "axis": "omne",</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1.2369801042855337,</a:t>
            </a:r>
          </a:p>
          <a:p xmlns:a="http://schemas.openxmlformats.org/drawingml/2006/main">
            <a:r>
              <a:t>            "q": 6.736093085970909,</a:t>
            </a:r>
          </a:p>
          <a:p xmlns:a="http://schemas.openxmlformats.org/drawingml/2006/main">
            <a:r>
              <a:t>            "shear": 3.875451006345</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1.2687581722551315,</a:t>
            </a:r>
          </a:p>
          <a:p xmlns:a="http://schemas.openxmlformats.org/drawingml/2006/main">
            <a:r>
              <a:t>            "q": 7.83289475281775,</a:t>
            </a:r>
          </a:p>
          <a:p xmlns:a="http://schemas.openxmlformats.org/drawingml/2006/main">
            <a:r>
              <a:t>            "shear": 4.0522928187811305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1.257837484407978,</a:t>
            </a:r>
          </a:p>
          <a:p xmlns:a="http://schemas.openxmlformats.org/drawingml/2006/main">
            <a:r>
              <a:t>            "q": 10.503832355919593,</a:t>
            </a:r>
          </a:p>
          <a:p xmlns:a="http://schemas.openxmlformats.org/drawingml/2006/main">
            <a:r>
              <a:t>            "shear": 4.720373454236804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"C:\\Users\\joesc\\git\\cheaseBS_tests\\data\\pm0.3_ncscal4\\129015\\omt_0.700",</a:t>
            </a:r>
          </a:p>
          <a:p xmlns:a="http://schemas.openxmlformats.org/drawingml/2006/main">
            <a:r>
              <a:t>        "axis": "omt",</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0.7865923533999624,</a:t>
            </a:r>
          </a:p>
          <a:p xmlns:a="http://schemas.openxmlformats.org/drawingml/2006/main">
            <a:r>
              <a:t>            "q": 6.840828256723431,</a:t>
            </a:r>
          </a:p>
          <a:p xmlns:a="http://schemas.openxmlformats.org/drawingml/2006/main">
            <a:r>
              <a:t>            "shear": 3.892403381508061</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0.7766872464343215,</a:t>
            </a:r>
          </a:p>
          <a:p xmlns:a="http://schemas.openxmlformats.org/drawingml/2006/main">
            <a:r>
              <a:t>            "q": 7.946067089894879,</a:t>
            </a:r>
          </a:p>
          <a:p xmlns:a="http://schemas.openxmlformats.org/drawingml/2006/main">
            <a:r>
              <a:t>            "shear": 3.9541926601085486</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0.9072347354718857,</a:t>
            </a:r>
          </a:p>
          <a:p xmlns:a="http://schemas.openxmlformats.org/drawingml/2006/main">
            <a:r>
              <a:t>            "q": 10.523764312378415,</a:t>
            </a:r>
          </a:p>
          <a:p xmlns:a="http://schemas.openxmlformats.org/drawingml/2006/main">
            <a:r>
              <a:t>            "shear": 4.307612196256843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"C:\\Users\\joesc\\git\\cheaseBS_tests\\data\\pm0.3_ncscal4\\129015\\omt_1.000",</a:t>
            </a:r>
          </a:p>
          <a:p xmlns:a="http://schemas.openxmlformats.org/drawingml/2006/main">
            <a:r>
              <a:t>        "axis": "omt",</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0.9858989562413545,</a:t>
            </a:r>
          </a:p>
          <a:p xmlns:a="http://schemas.openxmlformats.org/drawingml/2006/main">
            <a:r>
              <a:t>            "q": 6.80044334386391,</a:t>
            </a:r>
          </a:p>
          <a:p xmlns:a="http://schemas.openxmlformats.org/drawingml/2006/main">
            <a:r>
              <a:t>            "shear": 3.8972219441120926</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0.9836673095771666,</a:t>
            </a:r>
          </a:p>
          <a:p xmlns:a="http://schemas.openxmlformats.org/drawingml/2006/main">
            <a:r>
              <a:t>            "q": 7.906543556845907,</a:t>
            </a:r>
          </a:p>
          <a:p xmlns:a="http://schemas.openxmlformats.org/drawingml/2006/main">
            <a:r>
              <a:t>            "shear": 4.008555249877127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1.0147977749987949,</a:t>
            </a:r>
          </a:p>
          <a:p xmlns:a="http://schemas.openxmlformats.org/drawingml/2006/main">
            <a:r>
              <a:t>            "q": 10.521699060288627,</a:t>
            </a:r>
          </a:p>
          <a:p xmlns:a="http://schemas.openxmlformats.org/drawingml/2006/main">
            <a:r>
              <a:t>            "shear": 4.41102845426577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"C:\\Users\\joesc\\git\\cheaseBS_tests\\data\\pm0.3_ncscal4\\129015\\omt_1.300",</a:t>
            </a:r>
          </a:p>
          <a:p xmlns:a="http://schemas.openxmlformats.org/drawingml/2006/main">
            <a:r>
              <a:t>        "axis": "omt",</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1.2645968867927264,</a:t>
            </a:r>
          </a:p>
          <a:p xmlns:a="http://schemas.openxmlformats.org/drawingml/2006/main">
            <a:r>
              <a:t>            "q": 6.734896814696426,</a:t>
            </a:r>
          </a:p>
          <a:p xmlns:a="http://schemas.openxmlformats.org/drawingml/2006/main">
            <a:r>
              <a:t>            "shear": 3.8852618015830642</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1.2834096189964188,</a:t>
            </a:r>
          </a:p>
          <a:p xmlns:a="http://schemas.openxmlformats.org/drawingml/2006/main">
            <a:r>
              <a:t>            "q": 7.83669168831512,</a:t>
            </a:r>
          </a:p>
          <a:p xmlns:a="http://schemas.openxmlformats.org/drawingml/2006/main">
            <a:r>
              <a:t>            "shear": 4.081558153417292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1.151174508018525,</a:t>
            </a:r>
          </a:p>
          <a:p xmlns:a="http://schemas.openxmlformats.org/drawingml/2006/main">
            <a:r>
              <a:t>            "q": 10.536049195963793,</a:t>
            </a:r>
          </a:p>
          <a:p xmlns:a="http://schemas.openxmlformats.org/drawingml/2006/main">
            <a:r>
              <a:t>            "shear": 4.670703852305721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"apply_omX_n4w2"</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"apply_omX",</a:t>
            </a:r>
          </a:p>
          <a:p xmlns:a="http://schemas.openxmlformats.org/drawingml/2006/main">
            <a:r>
              <a:t>  "part": "Transformations and error traces",</a:t>
            </a:r>
          </a:p>
          <a:p xmlns:a="http://schemas.openxmlformats.org/drawingml/2006/main">
            <a:r>
              <a:t>  "variant": {</a:t>
            </a:r>
          </a:p>
          <a:p xmlns:a="http://schemas.openxmlformats.org/drawingml/2006/main">
            <a:r>
              <a:t>    "id": "n4w0",</a:t>
            </a:r>
          </a:p>
          <a:p xmlns:a="http://schemas.openxmlformats.org/drawingml/2006/main">
            <a:r>
              <a:t>    "title": "129015   NCSCAL = 4, warmup = 0",</a:t>
            </a:r>
          </a:p>
          <a:p xmlns:a="http://schemas.openxmlformats.org/drawingml/2006/main">
            <a:r>
              <a:t>    "color": "#D55E00",</a:t>
            </a:r>
          </a:p>
          <a:p xmlns:a="http://schemas.openxmlformats.org/drawingml/2006/main">
            <a:r>
              <a:t>    "root": "C:\\Users\\joesc\\git\\cheaseBS_tests\\data\\pm0.3_ncscal4_warmup0\\129015",</a:t>
            </a:r>
          </a:p>
          <a:p xmlns:a="http://schemas.openxmlformats.org/drawingml/2006/main">
            <a:r>
              <a:t>    "original_profile_image": "C:\\Users\\joesc\\git\\cheaseBS_tests\\data\\pm0.3_ncscal4_warmup0\\129015_mtanh_full_ped.png",</a:t>
            </a:r>
          </a:p>
          <a:p xmlns:a="http://schemas.openxmlformats.org/drawingml/2006/main">
            <a:r>
              <a:t>    "n": 4,</a:t>
            </a:r>
          </a:p>
          <a:p xmlns:a="http://schemas.openxmlformats.org/drawingml/2006/main">
            <a:r>
              <a:t>    "w": 0,</a:t>
            </a:r>
          </a:p>
          <a:p xmlns:a="http://schemas.openxmlformats.org/drawingml/2006/main">
            <a:r>
              <a:t>    "count": 9,</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"C:\\Users\\joesc\\git\\cheaseBS_tests\\data\\pm0.3_ncscal4_warmup0\\129015\\omne_0.700",</a:t>
            </a:r>
          </a:p>
          <a:p xmlns:a="http://schemas.openxmlformats.org/drawingml/2006/main">
            <a:r>
              <a:t>        "axis": "omne",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0.7867755215761371,</a:t>
            </a:r>
          </a:p>
          <a:p xmlns:a="http://schemas.openxmlformats.org/drawingml/2006/main">
            <a:r>
              <a:t>            "q": 6.847058925334028,</a:t>
            </a:r>
          </a:p>
          <a:p xmlns:a="http://schemas.openxmlformats.org/drawingml/2006/main">
            <a:r>
              <a:t>            "shear": 3.9035554299416932</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0.7647885470269432,</a:t>
            </a:r>
          </a:p>
          <a:p xmlns:a="http://schemas.openxmlformats.org/drawingml/2006/main">
            <a:r>
              <a:t>            "q": 7.957203361809532,</a:t>
            </a:r>
          </a:p>
          <a:p xmlns:a="http://schemas.openxmlformats.org/drawingml/2006/main">
            <a:r>
              <a:t>            "shear": 3.96647258894511</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0.8199209762658716,</a:t>
            </a:r>
          </a:p>
          <a:p xmlns:a="http://schemas.openxmlformats.org/drawingml/2006/main">
            <a:r>
              <a:t>            "q": 10.540553183086129,</a:t>
            </a:r>
          </a:p>
          <a:p xmlns:a="http://schemas.openxmlformats.org/drawingml/2006/main">
            <a:r>
              <a:t>            "shear": 4.276858594031663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"C:\\Users\\joesc\\git\\cheaseBS_tests\\data\\pm0.3_ncscal4_warmup0\\129015\\omne_0.950",</a:t>
            </a:r>
          </a:p>
          <a:p xmlns:a="http://schemas.openxmlformats.org/drawingml/2006/main">
            <a:r>
              <a:t>        "axis": "omne",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0.9493830382093142,</a:t>
            </a:r>
          </a:p>
          <a:p xmlns:a="http://schemas.openxmlformats.org/drawingml/2006/main">
            <a:r>
              <a:t>            "q": 6.808675641620777,</a:t>
            </a:r>
          </a:p>
          <a:p xmlns:a="http://schemas.openxmlformats.org/drawingml/2006/main">
            <a:r>
              <a:t>            "shear": 3.8986098630979003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0.9429873520521056,</a:t>
            </a:r>
          </a:p>
          <a:p xmlns:a="http://schemas.openxmlformats.org/drawingml/2006/main">
            <a:r>
              <a:t>            "q": 7.915416635544586,</a:t>
            </a:r>
          </a:p>
          <a:p xmlns:a="http://schemas.openxmlformats.org/drawingml/2006/main">
            <a:r>
              <a:t>            "shear": 4.000011552400203</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0.9785412219548653,</a:t>
            </a:r>
          </a:p>
          <a:p xmlns:a="http://schemas.openxmlformats.org/drawingml/2006/main">
            <a:r>
              <a:t>            "q": 10.531154237580216,</a:t>
            </a:r>
          </a:p>
          <a:p xmlns:a="http://schemas.openxmlformats.org/drawingml/2006/main">
            <a:r>
              <a:t>            "shear": 4.4157690807960925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"C:\\Users\\joesc\\git\\cheaseBS_tests\\data\\pm0.3_ncscal4_warmup0\\129015\\omne_1.000",</a:t>
            </a:r>
          </a:p>
          <a:p xmlns:a="http://schemas.openxmlformats.org/drawingml/2006/main">
            <a:r>
              <a:t>        "axis": "omne",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0.9859104208303776,</a:t>
            </a:r>
          </a:p>
          <a:p xmlns:a="http://schemas.openxmlformats.org/drawingml/2006/main">
            <a:r>
              <a:t>            "q": 6.800349448933337,</a:t>
            </a:r>
          </a:p>
          <a:p xmlns:a="http://schemas.openxmlformats.org/drawingml/2006/main">
            <a:r>
              <a:t>            "shear": 3.8972195309576088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0.9836782577496148,</a:t>
            </a:r>
          </a:p>
          <a:p xmlns:a="http://schemas.openxmlformats.org/drawingml/2006/main">
            <a:r>
              <a:t>            "q": 7.906433560419086,</a:t>
            </a:r>
          </a:p>
          <a:p xmlns:a="http://schemas.openxmlformats.org/drawingml/2006/main">
            <a:r>
              <a:t>            "shear": 4.008552799373367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1.0148011077169925,</a:t>
            </a:r>
          </a:p>
          <a:p xmlns:a="http://schemas.openxmlformats.org/drawingml/2006/main">
            <a:r>
              <a:t>            "q": 10.52161428168054,</a:t>
            </a:r>
          </a:p>
          <a:p xmlns:a="http://schemas.openxmlformats.org/drawingml/2006/main">
            <a:r>
              <a:t>            "shear": 4.4112391362642684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"C:\\Users\\joesc\\git\\cheaseBS_tests\\data\\pm0.3_ncscal4_warmup0\\129015\\omne_1.050",</a:t>
            </a:r>
          </a:p>
          <a:p xmlns:a="http://schemas.openxmlformats.org/drawingml/2006/main">
            <a:r>
              <a:t>        "axis": "omne",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1.0237611978889476,</a:t>
            </a:r>
          </a:p>
          <a:p xmlns:a="http://schemas.openxmlformats.org/drawingml/2006/main">
            <a:r>
              <a:t>            "q": 6.790656091612867,</a:t>
            </a:r>
          </a:p>
          <a:p xmlns:a="http://schemas.openxmlformats.org/drawingml/2006/main">
            <a:r>
              <a:t>            "shear": 3.894183538982111</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1.025891833460018,</a:t>
            </a:r>
          </a:p>
          <a:p xmlns:a="http://schemas.openxmlformats.org/drawingml/2006/main">
            <a:r>
              <a:t>            "q": 7.895147097644217,</a:t>
            </a:r>
          </a:p>
          <a:p xmlns:a="http://schemas.openxmlformats.org/drawingml/2006/main">
            <a:r>
              <a:t>            "shear": 4.013952392173345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1.049644529450405,</a:t>
            </a:r>
          </a:p>
          <a:p xmlns:a="http://schemas.openxmlformats.org/drawingml/2006/main">
            <a:r>
              <a:t>            "q": 10.530808061716192,</a:t>
            </a:r>
          </a:p>
          <a:p xmlns:a="http://schemas.openxmlformats.org/drawingml/2006/main">
            <a:r>
              <a:t>            "shear": 4.515355667811019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"C:\\Users\\joesc\\git\\cheaseBS_tests\\data\\pm0.3_ncscal4_warmup0\\129015\\omt_0.700",</a:t>
            </a:r>
          </a:p>
          <a:p xmlns:a="http://schemas.openxmlformats.org/drawingml/2006/main">
            <a:r>
              <a:t>        "axis": "omt",</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0.7866188532964474,</a:t>
            </a:r>
          </a:p>
          <a:p xmlns:a="http://schemas.openxmlformats.org/drawingml/2006/main">
            <a:r>
              <a:t>            "q": 6.840565476928632,</a:t>
            </a:r>
          </a:p>
          <a:p xmlns:a="http://schemas.openxmlformats.org/drawingml/2006/main">
            <a:r>
              <a:t>            "shear": 3.892409488042223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0.7767134045104899,</a:t>
            </a:r>
          </a:p>
          <a:p xmlns:a="http://schemas.openxmlformats.org/drawingml/2006/main">
            <a:r>
              <a:t>            "q": 7.945765949078069,</a:t>
            </a:r>
          </a:p>
          <a:p xmlns:a="http://schemas.openxmlformats.org/drawingml/2006/main">
            <a:r>
              <a:t>            "shear": 3.9542223500436964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0.9072635186788592,</a:t>
            </a:r>
          </a:p>
          <a:p xmlns:a="http://schemas.openxmlformats.org/drawingml/2006/main">
            <a:r>
              <a:t>            "q": 10.523399603358554,</a:t>
            </a:r>
          </a:p>
          <a:p xmlns:a="http://schemas.openxmlformats.org/drawingml/2006/main">
            <a:r>
              <a:t>            "shear": 4.307388543678838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"C:\\Users\\joesc\\git\\cheaseBS_tests\\data\\pm0.3_ncscal4_warmup0\\129015\\omt_0.950",</a:t>
            </a:r>
          </a:p>
          <a:p xmlns:a="http://schemas.openxmlformats.org/drawingml/2006/main">
            <a:r>
              <a:t>        "axis": "omt",</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0.9478721578529441,</a:t>
            </a:r>
          </a:p>
          <a:p xmlns:a="http://schemas.openxmlformats.org/drawingml/2006/main">
            <a:r>
              <a:t>            "q": 6.807974963345341,</a:t>
            </a:r>
          </a:p>
          <a:p xmlns:a="http://schemas.openxmlformats.org/drawingml/2006/main">
            <a:r>
              <a:t>            "shear": 3.8967078454410298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0.9436076223906784,</a:t>
            </a:r>
          </a:p>
          <a:p xmlns:a="http://schemas.openxmlformats.org/drawingml/2006/main">
            <a:r>
              <a:t>            "q": 7.913843171436799,</a:t>
            </a:r>
          </a:p>
          <a:p xmlns:a="http://schemas.openxmlformats.org/drawingml/2006/main">
            <a:r>
              <a:t>            "shear": 3.997124465418335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0.9942558289599889,</a:t>
            </a:r>
          </a:p>
          <a:p xmlns:a="http://schemas.openxmlformats.org/drawingml/2006/main">
            <a:r>
              <a:t>            "q": 10.527734856501501,</a:t>
            </a:r>
          </a:p>
          <a:p xmlns:a="http://schemas.openxmlformats.org/drawingml/2006/main">
            <a:r>
              <a:t>            "shear": 4.421329092466225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"C:\\Users\\joesc\\git\\cheaseBS_tests\\data\\pm0.3_ncscal4_warmup0\\129015\\omt_1.000",</a:t>
            </a:r>
          </a:p>
          <a:p xmlns:a="http://schemas.openxmlformats.org/drawingml/2006/main">
            <a:r>
              <a:t>        "axis": "omt",</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0.9859104208303776,</a:t>
            </a:r>
          </a:p>
          <a:p xmlns:a="http://schemas.openxmlformats.org/drawingml/2006/main">
            <a:r>
              <a:t>            "q": 6.800349448933337,</a:t>
            </a:r>
          </a:p>
          <a:p xmlns:a="http://schemas.openxmlformats.org/drawingml/2006/main">
            <a:r>
              <a:t>            "shear": 3.8972195309576088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0.9836782577496148,</a:t>
            </a:r>
          </a:p>
          <a:p xmlns:a="http://schemas.openxmlformats.org/drawingml/2006/main">
            <a:r>
              <a:t>            "q": 7.906433560419086,</a:t>
            </a:r>
          </a:p>
          <a:p xmlns:a="http://schemas.openxmlformats.org/drawingml/2006/main">
            <a:r>
              <a:t>            "shear": 4.008552799373367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1.0148011077169925,</a:t>
            </a:r>
          </a:p>
          <a:p xmlns:a="http://schemas.openxmlformats.org/drawingml/2006/main">
            <a:r>
              <a:t>            "q": 10.52161428168054,</a:t>
            </a:r>
          </a:p>
          <a:p xmlns:a="http://schemas.openxmlformats.org/drawingml/2006/main">
            <a:r>
              <a:t>            "shear": 4.4112391362642684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"C:\\Users\\joesc\\git\\cheaseBS_tests\\data\\pm0.3_ncscal4_warmup0\\129015\\omt_1.050",</a:t>
            </a:r>
          </a:p>
          <a:p xmlns:a="http://schemas.openxmlformats.org/drawingml/2006/main">
            <a:r>
              <a:t>        "axis": "omt",</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1.0262263586758031,</a:t>
            </a:r>
          </a:p>
          <a:p xmlns:a="http://schemas.openxmlformats.org/drawingml/2006/main">
            <a:r>
              <a:t>            "q": 6.78638720054378,</a:t>
            </a:r>
          </a:p>
          <a:p xmlns:a="http://schemas.openxmlformats.org/drawingml/2006/main">
            <a:r>
              <a:t>            "shear": 3.8943873426293147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1.0265461905121882,</a:t>
            </a:r>
          </a:p>
          <a:p xmlns:a="http://schemas.openxmlformats.org/drawingml/2006/main">
            <a:r>
              <a:t>            "q": 7.8911378661679645,</a:t>
            </a:r>
          </a:p>
          <a:p xmlns:a="http://schemas.openxmlformats.org/drawingml/2006/main">
            <a:r>
              <a:t>            "shear": 4.02283225509849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1.0365118094712173,</a:t>
            </a:r>
          </a:p>
          <a:p xmlns:a="http://schemas.openxmlformats.org/drawingml/2006/main">
            <a:r>
              <a:t>            "q": 10.528720094131451,</a:t>
            </a:r>
          </a:p>
          <a:p xmlns:a="http://schemas.openxmlformats.org/drawingml/2006/main">
            <a:r>
              <a:t>            "shear": 4.521846912247405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"C:\\Users\\joesc\\git\\cheaseBS_tests\\data\\pm0.3_ncscal4_warmup0\\129015\\omt_1.300",</a:t>
            </a:r>
          </a:p>
          <a:p xmlns:a="http://schemas.openxmlformats.org/drawingml/2006/main">
            <a:r>
              <a:t>        "axis": "omt",</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1.264573263881601,</a:t>
            </a:r>
          </a:p>
          <a:p xmlns:a="http://schemas.openxmlformats.org/drawingml/2006/main">
            <a:r>
              <a:t>            "q": 6.735034269377236,</a:t>
            </a:r>
          </a:p>
          <a:p xmlns:a="http://schemas.openxmlformats.org/drawingml/2006/main">
            <a:r>
              <a:t>            "shear": 3.8852612810293703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1.2833852552689118,</a:t>
            </a:r>
          </a:p>
          <a:p xmlns:a="http://schemas.openxmlformats.org/drawingml/2006/main">
            <a:r>
              <a:t>            "q": 7.836850661344166,</a:t>
            </a:r>
          </a:p>
          <a:p xmlns:a="http://schemas.openxmlformats.org/drawingml/2006/main">
            <a:r>
              <a:t>            "shear": 4.081557680546772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1.1511540852425626,</a:t>
            </a:r>
          </a:p>
          <a:p xmlns:a="http://schemas.openxmlformats.org/drawingml/2006/main">
            <a:r>
              <a:t>            "q": 10.536271736103318,</a:t>
            </a:r>
          </a:p>
          <a:p xmlns:a="http://schemas.openxmlformats.org/drawingml/2006/main">
            <a:r>
              <a:t>            "shear": 4.670721198882429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"apply_omX_n4w0"</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"apply_omX",</a:t>
            </a:r>
          </a:p>
          <a:p xmlns:a="http://schemas.openxmlformats.org/drawingml/2006/main">
            <a:r>
              <a:t>  "part": "Iteration counts and pressure chains",</a:t>
            </a:r>
          </a:p>
          <a:p xmlns:a="http://schemas.openxmlformats.org/drawingml/2006/main">
            <a:r>
              <a:t>  "variant": {</a:t>
            </a:r>
          </a:p>
          <a:p xmlns:a="http://schemas.openxmlformats.org/drawingml/2006/main">
            <a:r>
              <a:t>    "id": "n4w0",</a:t>
            </a:r>
          </a:p>
          <a:p xmlns:a="http://schemas.openxmlformats.org/drawingml/2006/main">
            <a:r>
              <a:t>    "title": "129015   NCSCAL = 4, warmup = 0",</a:t>
            </a:r>
          </a:p>
          <a:p xmlns:a="http://schemas.openxmlformats.org/drawingml/2006/main">
            <a:r>
              <a:t>    "color": "#D55E00",</a:t>
            </a:r>
          </a:p>
          <a:p xmlns:a="http://schemas.openxmlformats.org/drawingml/2006/main">
            <a:r>
              <a:t>    "root": "C:\\Users\\joesc\\git\\cheaseBS_tests\\data\\pm0.3_ncscal4_warmup0\\129015",</a:t>
            </a:r>
          </a:p>
          <a:p xmlns:a="http://schemas.openxmlformats.org/drawingml/2006/main">
            <a:r>
              <a:t>    "original_profile_image": "C:\\Users\\joesc\\git\\cheaseBS_tests\\data\\pm0.3_ncscal4_warmup0\\129015_mtanh_full_ped.png",</a:t>
            </a:r>
          </a:p>
          <a:p xmlns:a="http://schemas.openxmlformats.org/drawingml/2006/main">
            <a:r>
              <a:t>    "n": 4,</a:t>
            </a:r>
          </a:p>
          <a:p xmlns:a="http://schemas.openxmlformats.org/drawingml/2006/main">
            <a:r>
              <a:t>    "w": 0,</a:t>
            </a:r>
          </a:p>
          <a:p xmlns:a="http://schemas.openxmlformats.org/drawingml/2006/main">
            <a:r>
              <a:t>    "count": 9,</a:t>
            </a:r>
          </a:p>
          <a:p xmlns:a="http://schemas.openxmlformats.org/drawingml/2006/main">
            <a:r>
              <a:t>    "settings": {</a:t>
            </a:r>
          </a:p>
          <a:p xmlns:a="http://schemas.openxmlformats.org/drawingml/2006/main">
            <a:r>
              <a:t>      "bootstrap_mix": 0.1,</a:t>
            </a:r>
          </a:p>
          <a:p xmlns:a="http://schemas.openxmlformats.org/drawingml/2006/main">
            <a:r>
              <a:t>      "istar_mix": 0.05,</a:t>
            </a:r>
          </a:p>
          <a:p xmlns:a="http://schemas.openxmlformats.org/drawingml/2006/main">
            <a:r>
              <a:t>      "tol_ip_rel": 0.002,</a:t>
            </a:r>
          </a:p>
          <a:p xmlns:a="http://schemas.openxmlformats.org/drawingml/2006/main">
            <a:r>
              <a:t>      "tol_bs": 0.01,</a:t>
            </a:r>
          </a:p>
          <a:p xmlns:a="http://schemas.openxmlformats.org/drawingml/2006/main">
            <a:r>
              <a:t>      "tol_q": 0.01,</a:t>
            </a:r>
          </a:p>
          <a:p xmlns:a="http://schemas.openxmlformats.org/drawingml/2006/main">
            <a:r>
              <a:t>      "tol_a": 0.0001,</a:t>
            </a:r>
          </a:p>
          <a:p xmlns:a="http://schemas.openxmlformats.org/drawingml/2006/main">
            <a:r>
              <a:t>      "max_iter": 50</a:t>
            </a:r>
          </a:p>
          <a:p xmlns:a="http://schemas.openxmlformats.org/drawingml/2006/main">
            <a:r>
              <a:t>    },</a:t>
            </a:r>
          </a:p>
          <a:p xmlns:a="http://schemas.openxmlformats.org/drawingml/2006/main">
            <a:r>
              <a:t>    "runs": [</a:t>
            </a:r>
          </a:p>
          <a:p xmlns:a="http://schemas.openxmlformats.org/drawingml/2006/main">
            <a:r>
              <a:t>      {</a:t>
            </a:r>
          </a:p>
          <a:p xmlns:a="http://schemas.openxmlformats.org/drawingml/2006/main">
            <a:r>
              <a:t>        "path": "C:\\Users\\joesc\\git\\cheaseBS_tests\\data\\pm0.3_ncscal4_warmup0\\129015\\omne_0.700",</a:t>
            </a:r>
          </a:p>
          <a:p xmlns:a="http://schemas.openxmlformats.org/drawingml/2006/main">
            <a:r>
              <a:t>        "axis": "omne",</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0.7867755215761371,</a:t>
            </a:r>
          </a:p>
          <a:p xmlns:a="http://schemas.openxmlformats.org/drawingml/2006/main">
            <a:r>
              <a:t>            "q": 6.847058925334028,</a:t>
            </a:r>
          </a:p>
          <a:p xmlns:a="http://schemas.openxmlformats.org/drawingml/2006/main">
            <a:r>
              <a:t>            "shear": 3.9035554299416932</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0.7647885470269432,</a:t>
            </a:r>
          </a:p>
          <a:p xmlns:a="http://schemas.openxmlformats.org/drawingml/2006/main">
            <a:r>
              <a:t>            "q": 7.957203361809532,</a:t>
            </a:r>
          </a:p>
          <a:p xmlns:a="http://schemas.openxmlformats.org/drawingml/2006/main">
            <a:r>
              <a:t>            "shear": 3.96647258894511</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0.8199209762658716,</a:t>
            </a:r>
          </a:p>
          <a:p xmlns:a="http://schemas.openxmlformats.org/drawingml/2006/main">
            <a:r>
              <a:t>            "q": 10.540553183086129,</a:t>
            </a:r>
          </a:p>
          <a:p xmlns:a="http://schemas.openxmlformats.org/drawingml/2006/main">
            <a:r>
              <a:t>            "shear": 4.276858594031663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"C:\\Users\\joesc\\git\\cheaseBS_tests\\data\\pm0.3_ncscal4_warmup0\\129015\\omne_0.950",</a:t>
            </a:r>
          </a:p>
          <a:p xmlns:a="http://schemas.openxmlformats.org/drawingml/2006/main">
            <a:r>
              <a:t>        "axis": "omne",</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0.9493830382093142,</a:t>
            </a:r>
          </a:p>
          <a:p xmlns:a="http://schemas.openxmlformats.org/drawingml/2006/main">
            <a:r>
              <a:t>            "q": 6.808675641620777,</a:t>
            </a:r>
          </a:p>
          <a:p xmlns:a="http://schemas.openxmlformats.org/drawingml/2006/main">
            <a:r>
              <a:t>            "shear": 3.8986098630979003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0.9429873520521056,</a:t>
            </a:r>
          </a:p>
          <a:p xmlns:a="http://schemas.openxmlformats.org/drawingml/2006/main">
            <a:r>
              <a:t>            "q": 7.915416635544586,</a:t>
            </a:r>
          </a:p>
          <a:p xmlns:a="http://schemas.openxmlformats.org/drawingml/2006/main">
            <a:r>
              <a:t>            "shear": 4.000011552400203</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0.9785412219548653,</a:t>
            </a:r>
          </a:p>
          <a:p xmlns:a="http://schemas.openxmlformats.org/drawingml/2006/main">
            <a:r>
              <a:t>            "q": 10.531154237580216,</a:t>
            </a:r>
          </a:p>
          <a:p xmlns:a="http://schemas.openxmlformats.org/drawingml/2006/main">
            <a:r>
              <a:t>            "shear": 4.4157690807960925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"C:\\Users\\joesc\\git\\cheaseBS_tests\\data\\pm0.3_ncscal4_warmup0\\129015\\omne_1.000",</a:t>
            </a:r>
          </a:p>
          <a:p xmlns:a="http://schemas.openxmlformats.org/drawingml/2006/main">
            <a:r>
              <a:t>        "axis": "omne",</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0.9859104208303776,</a:t>
            </a:r>
          </a:p>
          <a:p xmlns:a="http://schemas.openxmlformats.org/drawingml/2006/main">
            <a:r>
              <a:t>            "q": 6.800349448933337,</a:t>
            </a:r>
          </a:p>
          <a:p xmlns:a="http://schemas.openxmlformats.org/drawingml/2006/main">
            <a:r>
              <a:t>            "shear": 3.8972195309576088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0.9836782577496148,</a:t>
            </a:r>
          </a:p>
          <a:p xmlns:a="http://schemas.openxmlformats.org/drawingml/2006/main">
            <a:r>
              <a:t>            "q": 7.906433560419086,</a:t>
            </a:r>
          </a:p>
          <a:p xmlns:a="http://schemas.openxmlformats.org/drawingml/2006/main">
            <a:r>
              <a:t>            "shear": 4.008552799373367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1.0148011077169925,</a:t>
            </a:r>
          </a:p>
          <a:p xmlns:a="http://schemas.openxmlformats.org/drawingml/2006/main">
            <a:r>
              <a:t>            "q": 10.52161428168054,</a:t>
            </a:r>
          </a:p>
          <a:p xmlns:a="http://schemas.openxmlformats.org/drawingml/2006/main">
            <a:r>
              <a:t>            "shear": 4.4112391362642684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"C:\\Users\\joesc\\git\\cheaseBS_tests\\data\\pm0.3_ncscal4_warmup0\\129015\\omne_1.050",</a:t>
            </a:r>
          </a:p>
          <a:p xmlns:a="http://schemas.openxmlformats.org/drawingml/2006/main">
            <a:r>
              <a:t>        "axis": "omne",</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1.0237611978889476,</a:t>
            </a:r>
          </a:p>
          <a:p xmlns:a="http://schemas.openxmlformats.org/drawingml/2006/main">
            <a:r>
              <a:t>            "q": 6.790656091612867,</a:t>
            </a:r>
          </a:p>
          <a:p xmlns:a="http://schemas.openxmlformats.org/drawingml/2006/main">
            <a:r>
              <a:t>            "shear": 3.894183538982111</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1.025891833460018,</a:t>
            </a:r>
          </a:p>
          <a:p xmlns:a="http://schemas.openxmlformats.org/drawingml/2006/main">
            <a:r>
              <a:t>            "q": 7.895147097644217,</a:t>
            </a:r>
          </a:p>
          <a:p xmlns:a="http://schemas.openxmlformats.org/drawingml/2006/main">
            <a:r>
              <a:t>            "shear": 4.013952392173345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1.049644529450405,</a:t>
            </a:r>
          </a:p>
          <a:p xmlns:a="http://schemas.openxmlformats.org/drawingml/2006/main">
            <a:r>
              <a:t>            "q": 10.530808061716192,</a:t>
            </a:r>
          </a:p>
          <a:p xmlns:a="http://schemas.openxmlformats.org/drawingml/2006/main">
            <a:r>
              <a:t>            "shear": 4.515355667811019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"C:\\Users\\joesc\\git\\cheaseBS_tests\\data\\pm0.3_ncscal4_warmup0\\129015\\omt_0.700",</a:t>
            </a:r>
          </a:p>
          <a:p xmlns:a="http://schemas.openxmlformats.org/drawingml/2006/main">
            <a:r>
              <a:t>        "axis": "omt",</a:t>
            </a:r>
          </a:p>
          <a:p xmlns:a="http://schemas.openxmlformats.org/drawingml/2006/main">
            <a:r>
              <a:t>        "scale": 0.7,</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0.7866188532964474,</a:t>
            </a:r>
          </a:p>
          <a:p xmlns:a="http://schemas.openxmlformats.org/drawingml/2006/main">
            <a:r>
              <a:t>            "q": 6.840565476928632,</a:t>
            </a:r>
          </a:p>
          <a:p xmlns:a="http://schemas.openxmlformats.org/drawingml/2006/main">
            <a:r>
              <a:t>            "shear": 3.892409488042223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0.7767134045104899,</a:t>
            </a:r>
          </a:p>
          <a:p xmlns:a="http://schemas.openxmlformats.org/drawingml/2006/main">
            <a:r>
              <a:t>            "q": 7.945765949078069,</a:t>
            </a:r>
          </a:p>
          <a:p xmlns:a="http://schemas.openxmlformats.org/drawingml/2006/main">
            <a:r>
              <a:t>            "shear": 3.9542223500436964</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0.9072635186788592,</a:t>
            </a:r>
          </a:p>
          <a:p xmlns:a="http://schemas.openxmlformats.org/drawingml/2006/main">
            <a:r>
              <a:t>            "q": 10.523399603358554,</a:t>
            </a:r>
          </a:p>
          <a:p xmlns:a="http://schemas.openxmlformats.org/drawingml/2006/main">
            <a:r>
              <a:t>            "shear": 4.307388543678838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"C:\\Users\\joesc\\git\\cheaseBS_tests\\data\\pm0.3_ncscal4_warmup0\\129015\\omt_0.950",</a:t>
            </a:r>
          </a:p>
          <a:p xmlns:a="http://schemas.openxmlformats.org/drawingml/2006/main">
            <a:r>
              <a:t>        "axis": "omt",</a:t>
            </a:r>
          </a:p>
          <a:p xmlns:a="http://schemas.openxmlformats.org/drawingml/2006/main">
            <a:r>
              <a:t>        "scale": 0.95,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0.9478721578529441,</a:t>
            </a:r>
          </a:p>
          <a:p xmlns:a="http://schemas.openxmlformats.org/drawingml/2006/main">
            <a:r>
              <a:t>            "q": 6.807974963345341,</a:t>
            </a:r>
          </a:p>
          <a:p xmlns:a="http://schemas.openxmlformats.org/drawingml/2006/main">
            <a:r>
              <a:t>            "shear": 3.8967078454410298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0.9436076223906784,</a:t>
            </a:r>
          </a:p>
          <a:p xmlns:a="http://schemas.openxmlformats.org/drawingml/2006/main">
            <a:r>
              <a:t>            "q": 7.913843171436799,</a:t>
            </a:r>
          </a:p>
          <a:p xmlns:a="http://schemas.openxmlformats.org/drawingml/2006/main">
            <a:r>
              <a:t>            "shear": 3.997124465418335</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0.9942558289599889,</a:t>
            </a:r>
          </a:p>
          <a:p xmlns:a="http://schemas.openxmlformats.org/drawingml/2006/main">
            <a:r>
              <a:t>            "q": 10.527734856501501,</a:t>
            </a:r>
          </a:p>
          <a:p xmlns:a="http://schemas.openxmlformats.org/drawingml/2006/main">
            <a:r>
              <a:t>            "shear": 4.421329092466225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"C:\\Users\\joesc\\git\\cheaseBS_tests\\data\\pm0.3_ncscal4_warmup0\\129015\\omt_1.000",</a:t>
            </a:r>
          </a:p>
          <a:p xmlns:a="http://schemas.openxmlformats.org/drawingml/2006/main">
            <a:r>
              <a:t>        "axis": "omt",</a:t>
            </a:r>
          </a:p>
          <a:p xmlns:a="http://schemas.openxmlformats.org/drawingml/2006/main">
            <a:r>
              <a:t>        "scale": 1,</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0.9859104208303776,</a:t>
            </a:r>
          </a:p>
          <a:p xmlns:a="http://schemas.openxmlformats.org/drawingml/2006/main">
            <a:r>
              <a:t>            "q": 6.800349448933337,</a:t>
            </a:r>
          </a:p>
          <a:p xmlns:a="http://schemas.openxmlformats.org/drawingml/2006/main">
            <a:r>
              <a:t>            "shear": 3.8972195309576088</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0.9836782577496148,</a:t>
            </a:r>
          </a:p>
          <a:p xmlns:a="http://schemas.openxmlformats.org/drawingml/2006/main">
            <a:r>
              <a:t>            "q": 7.906433560419086,</a:t>
            </a:r>
          </a:p>
          <a:p xmlns:a="http://schemas.openxmlformats.org/drawingml/2006/main">
            <a:r>
              <a:t>            "shear": 4.008552799373367</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1.0148011077169925,</a:t>
            </a:r>
          </a:p>
          <a:p xmlns:a="http://schemas.openxmlformats.org/drawingml/2006/main">
            <a:r>
              <a:t>            "q": 10.52161428168054,</a:t>
            </a:r>
          </a:p>
          <a:p xmlns:a="http://schemas.openxmlformats.org/drawingml/2006/main">
            <a:r>
              <a:t>            "shear": 4.4112391362642684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"C:\\Users\\joesc\\git\\cheaseBS_tests\\data\\pm0.3_ncscal4_warmup0\\129015\\omt_1.050",</a:t>
            </a:r>
          </a:p>
          <a:p xmlns:a="http://schemas.openxmlformats.org/drawingml/2006/main">
            <a:r>
              <a:t>        "axis": "omt",</a:t>
            </a:r>
          </a:p>
          <a:p xmlns:a="http://schemas.openxmlformats.org/drawingml/2006/main">
            <a:r>
              <a:t>        "scale": 1.05,</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1.0262263586758031,</a:t>
            </a:r>
          </a:p>
          <a:p xmlns:a="http://schemas.openxmlformats.org/drawingml/2006/main">
            <a:r>
              <a:t>            "q": 6.78638720054378,</a:t>
            </a:r>
          </a:p>
          <a:p xmlns:a="http://schemas.openxmlformats.org/drawingml/2006/main">
            <a:r>
              <a:t>            "shear": 3.8943873426293147</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1.0265461905121882,</a:t>
            </a:r>
          </a:p>
          <a:p xmlns:a="http://schemas.openxmlformats.org/drawingml/2006/main">
            <a:r>
              <a:t>            "q": 7.8911378661679645,</a:t>
            </a:r>
          </a:p>
          <a:p xmlns:a="http://schemas.openxmlformats.org/drawingml/2006/main">
            <a:r>
              <a:t>            "shear": 4.02283225509849</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1.0365118094712173,</a:t>
            </a:r>
          </a:p>
          <a:p xmlns:a="http://schemas.openxmlformats.org/drawingml/2006/main">
            <a:r>
              <a:t>            "q": 10.528720094131451,</a:t>
            </a:r>
          </a:p>
          <a:p xmlns:a="http://schemas.openxmlformats.org/drawingml/2006/main">
            <a:r>
              <a:t>            "shear": 4.521846912247405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"path": "C:\\Users\\joesc\\git\\cheaseBS_tests\\data\\pm0.3_ncscal4_warmup0\\129015\\omt_1.300",</a:t>
            </a:r>
          </a:p>
          <a:p xmlns:a="http://schemas.openxmlformats.org/drawingml/2006/main">
            <a:r>
              <a:t>        "axis": "omt",</a:t>
            </a:r>
          </a:p>
          <a:p xmlns:a="http://schemas.openxmlformats.org/drawingml/2006/main">
            <a:r>
              <a:t>        "scale": 1.3,</a:t>
            </a:r>
          </a:p>
          <a:p xmlns:a="http://schemas.openxmlformats.org/drawingml/2006/main">
            <a:r>
              <a:t>        "iterations": 2,</a:t>
            </a:r>
          </a:p>
          <a:p xmlns:a="http://schemas.openxmlformats.org/drawingml/2006/main">
            <a:r>
              <a:t>        "converged": true,</a:t>
            </a:r>
          </a:p>
          <a:p xmlns:a="http://schemas.openxmlformats.org/drawingml/2006/main">
            <a:r>
              <a:t>        "chain":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"pressure_ratio": 1.264573263881601,</a:t>
            </a:r>
          </a:p>
          <a:p xmlns:a="http://schemas.openxmlformats.org/drawingml/2006/main">
            <a:r>
              <a:t>            "q": 6.735034269377236,</a:t>
            </a:r>
          </a:p>
          <a:p xmlns:a="http://schemas.openxmlformats.org/drawingml/2006/main">
            <a:r>
              <a:t>            "shear": 3.8852612810293703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"pressure_ratio": 1.2833852552689118,</a:t>
            </a:r>
          </a:p>
          <a:p xmlns:a="http://schemas.openxmlformats.org/drawingml/2006/main">
            <a:r>
              <a:t>            "q": 7.836850661344166,</a:t>
            </a:r>
          </a:p>
          <a:p xmlns:a="http://schemas.openxmlformats.org/drawingml/2006/main">
            <a:r>
              <a:t>            "shear": 4.081557680546772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"pressure_ratio": 1.1511540852425626,</a:t>
            </a:r>
          </a:p>
          <a:p xmlns:a="http://schemas.openxmlformats.org/drawingml/2006/main">
            <a:r>
              <a:t>            "q": 10.536271736103318,</a:t>
            </a:r>
          </a:p>
          <a:p xmlns:a="http://schemas.openxmlformats.org/drawingml/2006/main">
            <a:r>
              <a:t>            "shear": 4.670721198882429</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"prefix": "apply_omX_n4w0"</a:t>
            </a:r>
          </a:p>
          <a:p xmlns:a="http://schemas.openxmlformats.org/drawingml/2006/main">
            <a:r>
              <a:t>  },</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"family": "apply_omX",</a:t>
            </a:r>
          </a:p>
          <a:p xmlns:a="http://schemas.openxmlformats.org/drawingml/2006/main">
            <a:r>
              <a:t>  "part": "All variants, with marker-border coding",</a:t>
            </a:r>
          </a:p>
          <a:p xmlns:a="http://schemas.openxmlformats.org/drawingml/2006/main">
            <a:r>
              <a:t>  "variant": null,</a:t>
            </a:r>
          </a:p>
          <a:p xmlns:a="http://schemas.openxmlformats.org/drawingml/2006/main">
            <a:r>
              <a:t>  "chapman": [</a:t>
            </a:r>
          </a:p>
          <a:p xmlns:a="http://schemas.openxmlformats.org/drawingml/2006/main">
            <a:r>
              <a:t>    {</a:t>
            </a:r>
          </a:p>
          <a:p xmlns:a="http://schemas.openxmlformats.org/drawingml/2006/main">
            <a:r>
              <a:t>      "rho": 0.8425,</a:t>
            </a:r>
          </a:p>
          <a:p xmlns:a="http://schemas.openxmlformats.org/drawingml/2006/main">
            <a:r>
              <a:t>      "point": "T_top",</a:t>
            </a:r>
          </a:p>
          <a:p xmlns:a="http://schemas.openxmlformats.org/drawingml/2006/main">
            <a:r>
              <a:t>      "q": 6.886358711050888,</a:t>
            </a:r>
          </a:p>
          <a:p xmlns:a="http://schemas.openxmlformats.org/drawingml/2006/main">
            <a:r>
              <a:t>      "shear": 3.849093755603565,</a:t>
            </a:r>
          </a:p>
          <a:p xmlns:a="http://schemas.openxmlformats.org/drawingml/2006/main">
            <a:r>
              <a:t>      "fit_pressure_ratio": 0.99014717994203</a:t>
            </a:r>
          </a:p>
          <a:p xmlns:a="http://schemas.openxmlformats.org/drawingml/2006/main">
            <a:r>
              <a:t>    },</a:t>
            </a:r>
          </a:p>
          <a:p xmlns:a="http://schemas.openxmlformats.org/drawingml/2006/main">
            <a:r>
              <a:t>    {</a:t>
            </a:r>
          </a:p>
          <a:p xmlns:a="http://schemas.openxmlformats.org/drawingml/2006/main">
            <a:r>
              <a:t>      "rho": 0.8745,</a:t>
            </a:r>
          </a:p>
          <a:p xmlns:a="http://schemas.openxmlformats.org/drawingml/2006/main">
            <a:r>
              <a:t>      "point": "n_top",</a:t>
            </a:r>
          </a:p>
          <a:p xmlns:a="http://schemas.openxmlformats.org/drawingml/2006/main">
            <a:r>
              <a:t>      "q": 8.008300508035049,</a:t>
            </a:r>
          </a:p>
          <a:p xmlns:a="http://schemas.openxmlformats.org/drawingml/2006/main">
            <a:r>
              <a:t>      "shear": 3.9320542581423155,</a:t>
            </a:r>
          </a:p>
          <a:p xmlns:a="http://schemas.openxmlformats.org/drawingml/2006/main">
            <a:r>
              <a:t>      "fit_pressure_ratio": 0.9886363282069752</a:t>
            </a:r>
          </a:p>
          <a:p xmlns:a="http://schemas.openxmlformats.org/drawingml/2006/main">
            <a:r>
              <a:t>    },</a:t>
            </a:r>
          </a:p>
          <a:p xmlns:a="http://schemas.openxmlformats.org/drawingml/2006/main">
            <a:r>
              <a:t>    {</a:t>
            </a:r>
          </a:p>
          <a:p xmlns:a="http://schemas.openxmlformats.org/drawingml/2006/main">
            <a:r>
              <a:t>      "rho": 0.9515,</a:t>
            </a:r>
          </a:p>
          <a:p xmlns:a="http://schemas.openxmlformats.org/drawingml/2006/main">
            <a:r>
              <a:t>      "point": "steep",</a:t>
            </a:r>
          </a:p>
          <a:p xmlns:a="http://schemas.openxmlformats.org/drawingml/2006/main">
            <a:r>
              <a:t>      "q": 10.627539365150305,</a:t>
            </a:r>
          </a:p>
          <a:p xmlns:a="http://schemas.openxmlformats.org/drawingml/2006/main">
            <a:r>
              <a:t>      "shear": 4.278473037196078,</a:t>
            </a:r>
          </a:p>
          <a:p xmlns:a="http://schemas.openxmlformats.org/drawingml/2006/main">
            <a:r>
              <a:t>      "fit_pressure_ratio": 1.029936403893316</a:t>
            </a:r>
          </a:p>
          <a:p xmlns:a="http://schemas.openxmlformats.org/drawingml/2006/main">
            <a:r>
              <a:t>    }</a:t>
            </a:r>
          </a:p>
          <a:p xmlns:a="http://schemas.openxmlformats.org/drawingml/2006/main">
            <a:r>
              <a:t>  ],</a:t>
            </a:r>
          </a:p>
          <a:p xmlns:a="http://schemas.openxmlformats.org/drawingml/2006/main">
            <a:r>
              <a:t>  "limitations": "NCSCAL 1 inferred from the saved config reference to chease_namelist_nstx and the current preset. Original execution namelist unavailable. NCSCAL 4 is explicit in saved campaign namelists. Older/newer campaigns differ in mixing, tolerances and scale coverage. All runs use I-star. No new solves.",</a:t>
            </a:r>
          </a:p>
          <a:p xmlns:a="http://schemas.openxmlformats.org/drawingml/2006/main">
            <a:r>
              <a:t>  "source": "prepare_split.py reuses the validated 46-run manifest. Pressure chains use the same TPED GFileData / shear interpolation as the prior review. Only this family is included. Transformation profiles replotted from the original saved files using the same fixed (scaling type, factor) color map as traces, bars and pressure points. Iteration counts use convergence_summary.json; traces use iteration_log.csv."</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62178bb6504b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3fc15029434031" /><Relationship Type="http://schemas.openxmlformats.org/officeDocument/2006/relationships/slideLayout" Target="/ppt/slideLayouts/slideLayout1.xml" Id="Re29572a07fa748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9572a07fa748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f58122bf774bdf" /><Relationship Type="http://schemas.openxmlformats.org/officeDocument/2006/relationships/image" Target="/ppt/media/image.png" Id="R6f6c39b5205647f7" /><Relationship Type="http://schemas.openxmlformats.org/officeDocument/2006/relationships/image" Target="/ppt/media/image2.png" Id="R545d52500b7a4c0d" /><Relationship Type="http://schemas.openxmlformats.org/officeDocument/2006/relationships/image" Target="/ppt/media/image3.png" Id="R1248d132432f448c" /><Relationship Type="http://schemas.openxmlformats.org/officeDocument/2006/relationships/image" Target="/ppt/media/image4.png" Id="Rfd6d751fb9dd4e7b" /><Relationship Type="http://schemas.openxmlformats.org/officeDocument/2006/relationships/notesSlide" Target="/ppt/notesSlides/notesSlide1.xml" Id="R38a62a9a203243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51864440bb436c" /><Relationship Type="http://schemas.openxmlformats.org/officeDocument/2006/relationships/image" Target="/ppt/media/image5.png" Id="R205a640461b54c19" /><Relationship Type="http://schemas.openxmlformats.org/officeDocument/2006/relationships/image" Target="/ppt/media/image6.png" Id="R97890fb5d7514871" /><Relationship Type="http://schemas.openxmlformats.org/officeDocument/2006/relationships/image" Target="/ppt/media/image7.png" Id="R632f528965f74990" /><Relationship Type="http://schemas.openxmlformats.org/officeDocument/2006/relationships/notesSlide" Target="/ppt/notesSlides/notesSlide2.xml" Id="R466a39ab707d44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1097df930b4491" /><Relationship Type="http://schemas.openxmlformats.org/officeDocument/2006/relationships/image" Target="/ppt/media/image8.png" Id="R408d55f88ba249d9" /><Relationship Type="http://schemas.openxmlformats.org/officeDocument/2006/relationships/image" Target="/ppt/media/image9.png" Id="R82f342d0a5a84ac6" /><Relationship Type="http://schemas.openxmlformats.org/officeDocument/2006/relationships/image" Target="/ppt/media/image10.png" Id="R37060e7e22244186" /><Relationship Type="http://schemas.openxmlformats.org/officeDocument/2006/relationships/image" Target="/ppt/media/image11.png" Id="Rd77432e02a304a33" /><Relationship Type="http://schemas.openxmlformats.org/officeDocument/2006/relationships/notesSlide" Target="/ppt/notesSlides/notesSlide3.xml" Id="Rde29d212322948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01cafa13f34bfc" /><Relationship Type="http://schemas.openxmlformats.org/officeDocument/2006/relationships/image" Target="/ppt/media/image12.png" Id="Rf4d39eb2433a4018" /><Relationship Type="http://schemas.openxmlformats.org/officeDocument/2006/relationships/image" Target="/ppt/media/image13.png" Id="R87d65d610b1f41fb" /><Relationship Type="http://schemas.openxmlformats.org/officeDocument/2006/relationships/image" Target="/ppt/media/image14.png" Id="R36c0c0757e734cbd" /><Relationship Type="http://schemas.openxmlformats.org/officeDocument/2006/relationships/notesSlide" Target="/ppt/notesSlides/notesSlide4.xml" Id="R64233110498942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998d1a2f58472a" /><Relationship Type="http://schemas.openxmlformats.org/officeDocument/2006/relationships/image" Target="/ppt/media/image15.png" Id="R0cdaeb5dd18c43ce" /><Relationship Type="http://schemas.openxmlformats.org/officeDocument/2006/relationships/image" Target="/ppt/media/image16.png" Id="Rdd35d28c45df488b" /><Relationship Type="http://schemas.openxmlformats.org/officeDocument/2006/relationships/image" Target="/ppt/media/image17.png" Id="R03eab3a159424b6a" /><Relationship Type="http://schemas.openxmlformats.org/officeDocument/2006/relationships/image" Target="/ppt/media/image18.png" Id="R8e4672a574a54a3d" /><Relationship Type="http://schemas.openxmlformats.org/officeDocument/2006/relationships/notesSlide" Target="/ppt/notesSlides/notesSlide5.xml" Id="R4c8d0583e98b4b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5f5b53225c40ec" /><Relationship Type="http://schemas.openxmlformats.org/officeDocument/2006/relationships/image" Target="/ppt/media/image19.png" Id="R536e18cb688443fa" /><Relationship Type="http://schemas.openxmlformats.org/officeDocument/2006/relationships/image" Target="/ppt/media/image20.png" Id="Radc36664b09d4552" /><Relationship Type="http://schemas.openxmlformats.org/officeDocument/2006/relationships/image" Target="/ppt/media/image21.png" Id="R8951d8d3368d4960" /><Relationship Type="http://schemas.openxmlformats.org/officeDocument/2006/relationships/notesSlide" Target="/ppt/notesSlides/notesSlide6.xml" Id="R2fa1b4a619aa43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41a78c179e4f44" /><Relationship Type="http://schemas.openxmlformats.org/officeDocument/2006/relationships/image" Target="/ppt/media/image22.png" Id="Rf38dd2591e9d45b4" /><Relationship Type="http://schemas.openxmlformats.org/officeDocument/2006/relationships/image" Target="/ppt/media/image23.png" Id="Rf59766836eaf426f" /><Relationship Type="http://schemas.openxmlformats.org/officeDocument/2006/relationships/image" Target="/ppt/media/image24.png" Id="R3571a546f2c9450d" /><Relationship Type="http://schemas.openxmlformats.org/officeDocument/2006/relationships/image" Target="/ppt/media/image25.png" Id="R51ca36d522764611" /><Relationship Type="http://schemas.openxmlformats.org/officeDocument/2006/relationships/notesSlide" Target="/ppt/notesSlides/notesSlide7.xml" Id="Re25c2263ac7e43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0bb437381b41c1" /><Relationship Type="http://schemas.openxmlformats.org/officeDocument/2006/relationships/image" Target="/ppt/media/image26.png" Id="Rf6cd7add7ad14e09" /><Relationship Type="http://schemas.openxmlformats.org/officeDocument/2006/relationships/image" Target="/ppt/media/image27.png" Id="Re0dbca2563274b98" /><Relationship Type="http://schemas.openxmlformats.org/officeDocument/2006/relationships/image" Target="/ppt/media/image28.png" Id="R4395a58f057e4af5" /><Relationship Type="http://schemas.openxmlformats.org/officeDocument/2006/relationships/notesSlide" Target="/ppt/notesSlides/notesSlide8.xml" Id="Re155f1bd3e8f4d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ca0d4e80a54478" /><Relationship Type="http://schemas.openxmlformats.org/officeDocument/2006/relationships/image" Target="/ppt/media/image29.png" Id="Ra575260bb56c4c15" /><Relationship Type="http://schemas.openxmlformats.org/officeDocument/2006/relationships/image" Target="/ppt/media/image30.png" Id="Rad906082c8ea4503" /><Relationship Type="http://schemas.openxmlformats.org/officeDocument/2006/relationships/notesSlide" Target="/ppt/notesSlides/notesSlide9.xml" Id="R090eab609a604c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89cfb609eb4476" /><Relationship Type="http://schemas.openxmlformats.org/officeDocument/2006/relationships/image" Target="/ppt/media/image31.png" Id="Rbd9f99168e614b57" /><Relationship Type="http://schemas.openxmlformats.org/officeDocument/2006/relationships/image" Target="/ppt/media/image32.png" Id="R91a07e2e22334a88" /><Relationship Type="http://schemas.openxmlformats.org/officeDocument/2006/relationships/image" Target="/ppt/media/image33.png" Id="Re63906ec26fc4b42" /><Relationship Type="http://schemas.openxmlformats.org/officeDocument/2006/relationships/image" Target="/ppt/media/image34.png" Id="Ra2b563e71fa14d71" /><Relationship Type="http://schemas.openxmlformats.org/officeDocument/2006/relationships/notesSlide" Target="/ppt/notesSlides/notesSlide10.xml" Id="R4e33dd95b80947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a22465327b4189" /><Relationship Type="http://schemas.openxmlformats.org/officeDocument/2006/relationships/image" Target="/ppt/media/image35.png" Id="R9dfddeb29c9e4930" /><Relationship Type="http://schemas.openxmlformats.org/officeDocument/2006/relationships/image" Target="/ppt/media/image36.png" Id="Rea5a098bc5e0410e" /><Relationship Type="http://schemas.openxmlformats.org/officeDocument/2006/relationships/image" Target="/ppt/media/image37.png" Id="Rc5151e339b184c7b" /><Relationship Type="http://schemas.openxmlformats.org/officeDocument/2006/relationships/notesSlide" Target="/ppt/notesSlides/notesSlide11.xml" Id="R358da806b97044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9ec4c352c44028" /><Relationship Type="http://schemas.openxmlformats.org/officeDocument/2006/relationships/image" Target="/ppt/media/image38.png" Id="R7ba480e016134a80" /><Relationship Type="http://schemas.openxmlformats.org/officeDocument/2006/relationships/image" Target="/ppt/media/image39.png" Id="R0ad58718f8ae4e3e" /><Relationship Type="http://schemas.openxmlformats.org/officeDocument/2006/relationships/image" Target="/ppt/media/image40.png" Id="R28d13dab747e40b2" /><Relationship Type="http://schemas.openxmlformats.org/officeDocument/2006/relationships/image" Target="/ppt/media/image41.png" Id="R9249e6adf3bd4d26" /><Relationship Type="http://schemas.openxmlformats.org/officeDocument/2006/relationships/notesSlide" Target="/ppt/notesSlides/notesSlide12.xml" Id="Rcb84cea361ff40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9fa5e9d6d04743" /><Relationship Type="http://schemas.openxmlformats.org/officeDocument/2006/relationships/image" Target="/ppt/media/image42.png" Id="R1b96e429f1b04d00" /><Relationship Type="http://schemas.openxmlformats.org/officeDocument/2006/relationships/image" Target="/ppt/media/image43.png" Id="Raeaf8f3e90df49c4" /><Relationship Type="http://schemas.openxmlformats.org/officeDocument/2006/relationships/image" Target="/ppt/media/image44.png" Id="Rb6e62b9eb5fa4b6c" /><Relationship Type="http://schemas.openxmlformats.org/officeDocument/2006/relationships/notesSlide" Target="/ppt/notesSlides/notesSlide13.xml" Id="R10c8df0c3e5d45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fd80d8a70c049cf" /><Relationship Type="http://schemas.openxmlformats.org/officeDocument/2006/relationships/image" Target="/ppt/media/image45.png" Id="R2885be3d72944db2" /><Relationship Type="http://schemas.openxmlformats.org/officeDocument/2006/relationships/image" Target="/ppt/media/image46.png" Id="R2b20f80c66e543e2" /><Relationship Type="http://schemas.openxmlformats.org/officeDocument/2006/relationships/notesSlide" Target="/ppt/notesSlides/notesSlide14.xml" Id="Rf435a6f401b94a7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946E67-14E9-421F-B8FB-FF00B503D69B}"/>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2B2"/>
                </a:solidFill>
                <a:latin typeface="Arial"/>
                <a:ea typeface="Arial"/>
                <a:cs typeface="Arial"/>
              </a:defRPr>
            </a:pPr>
            <a:r>
              <a:rPr sz="2400" b="1">
                <a:solidFill>
                  <a:srgbClr val="0072B2"/>
                </a:solidFill>
                <a:latin typeface="Arial"/>
                <a:ea typeface="Arial"/>
                <a:cs typeface="Arial"/>
              </a:rPr>
              <a:t>129015   mtanh   NCSCAL = 1*, warmup = 2</a:t>
            </a:r>
          </a:p>
        </p:txBody>
      </p:sp>
      <p:sp>
        <p:nvSpPr>
          <p:cNvPr id="2" name="">
            <a:extLst xmlns:a="http://schemas.openxmlformats.org/drawingml/2006/main">
              <a:ext uri="{FF2B5EF4-FFF2-40B4-BE49-F238E27FC236}">
                <a16:creationId xmlns:a16="http://schemas.microsoft.com/office/drawing/2014/main" id="{77C175FE-ECE5-40C0-A083-8D3B90802727}"/>
              </a:ext>
            </a:extLst>
          </p:cNvPr>
          <p:cNvSpPr>
            <a:spLocks xmlns:a="http://schemas.openxmlformats.org/drawingml/2006/main" noGrp="1"/>
          </p:cNvSpPr>
          <p:nvPr/>
        </p:nvSpPr>
        <p:spPr>
          <a:xfrm xmlns:a="http://schemas.openxmlformats.org/drawingml/2006/main">
            <a:off x="257175" y="581025"/>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Transformations and error traces     8 runs     I-star mix 0.02     Ip tolerance 2%     BS/q tolerance 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f6c39b5205647f7"/>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F4763E-7F4B-406A-B73D-3915A240DEDC}"/>
              </a:ext>
            </a:extLst>
          </p:cNvPr>
          <p:cNvSpPr>
            <a:spLocks xmlns:a="http://schemas.openxmlformats.org/drawingml/2006/main" noGrp="1"/>
          </p:cNvSpPr>
          <p:nvPr/>
        </p:nvSpPr>
        <p:spPr>
          <a:xfrm xmlns:a="http://schemas.openxmlformats.org/drawingml/2006/main">
            <a:off x="238125" y="14192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Saved transformation profiles</a:t>
            </a:r>
          </a:p>
        </p:txBody>
      </p:sp>
      <p:sp>
        <p:nvSpPr>
          <p:cNvPr id="5" name="">
            <a:extLst xmlns:a="http://schemas.openxmlformats.org/drawingml/2006/main">
              <a:ext uri="{FF2B5EF4-FFF2-40B4-BE49-F238E27FC236}">
                <a16:creationId xmlns:a16="http://schemas.microsoft.com/office/drawing/2014/main" id="{49535C50-211B-41D9-A72E-94C4C2B9940C}"/>
              </a:ext>
            </a:extLst>
          </p:cNvPr>
          <p:cNvSpPr>
            <a:spLocks xmlns:a="http://schemas.openxmlformats.org/drawingml/2006/main" noGrp="1"/>
          </p:cNvSpPr>
          <p:nvPr/>
        </p:nvSpPr>
        <p:spPr>
          <a:xfrm xmlns:a="http://schemas.openxmlformats.org/drawingml/2006/main">
            <a:off x="7524750" y="1419225"/>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Iteration errors (relative fractions)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45d52500b7a4c0d"/>
          <a:stretch xmlns:a="http://schemas.openxmlformats.org/drawingml/2006/main"/>
        </p:blipFill>
        <p:spPr>
          <a:xfrm xmlns:a="http://schemas.openxmlformats.org/drawingml/2006/main">
            <a:off x="714375" y="1790700"/>
            <a:ext cx="5715000" cy="2857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248d132432f448c"/>
          <a:stretch xmlns:a="http://schemas.openxmlformats.org/drawingml/2006/main"/>
        </p:blipFill>
        <p:spPr>
          <a:xfrm xmlns:a="http://schemas.openxmlformats.org/drawingml/2006/main">
            <a:off x="714375" y="4762500"/>
            <a:ext cx="5715000" cy="28575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d6d751fb9dd4e7b"/>
          <a:stretch xmlns:a="http://schemas.openxmlformats.org/drawingml/2006/main"/>
        </p:blipFill>
        <p:spPr>
          <a:xfrm xmlns:a="http://schemas.openxmlformats.org/drawingml/2006/main">
            <a:off x="7478526" y="1762125"/>
            <a:ext cx="7236199" cy="6000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F0B271F-4850-43E4-848C-CA80870EC46B}"/>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One color per scaling type/factor across all plots. Profiles: solid electrons, dashed ions where shown. Black curves: reference profiles.</a:t>
            </a:r>
          </a:p>
        </p:txBody>
      </p:sp>
      <p:sp>
        <p:nvSpPr>
          <p:cNvPr id="10" name="">
            <a:extLst xmlns:a="http://schemas.openxmlformats.org/drawingml/2006/main">
              <a:ext uri="{FF2B5EF4-FFF2-40B4-BE49-F238E27FC236}">
                <a16:creationId xmlns:a16="http://schemas.microsoft.com/office/drawing/2014/main" id="{FB757A4F-CABB-4E73-B49A-F47A34032B9B}"/>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1/14</a:t>
            </a:r>
          </a:p>
        </p:txBody>
      </p:sp>
      <p:sp>
        <p:nvSpPr>
          <p:cNvPr id="11" name="">
            <a:extLst xmlns:a="http://schemas.openxmlformats.org/drawingml/2006/main">
              <a:ext uri="{FF2B5EF4-FFF2-40B4-BE49-F238E27FC236}">
                <a16:creationId xmlns:a16="http://schemas.microsoft.com/office/drawing/2014/main" id="{5148DC86-E4D4-41B6-B051-9C70CBC9F338}"/>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*NCSCAL=1 inferred from the referenced preset. Amplitude change may be set to zero by the stopping rule. BS/q traces measure successive change.</a:t>
            </a:r>
          </a:p>
        </p:txBody>
      </p:sp>
    </p:spTree>
    <p:extLst>
      <p:ext uri="{BB962C8B-B14F-4D97-AF65-F5344CB8AC3E}">
        <p14:creationId xmlns:p14="http://schemas.microsoft.com/office/powerpoint/2010/main" val="14223078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566C54-0157-4BA1-BB9E-0A802443B711}"/>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2B2"/>
                </a:solidFill>
                <a:latin typeface="Arial"/>
                <a:ea typeface="Arial"/>
                <a:cs typeface="Arial"/>
              </a:defRPr>
            </a:pPr>
            <a:r>
              <a:rPr sz="2400" b="1">
                <a:solidFill>
                  <a:srgbClr val="0072B2"/>
                </a:solidFill>
                <a:latin typeface="Arial"/>
                <a:ea typeface="Arial"/>
                <a:cs typeface="Arial"/>
              </a:rPr>
              <a:t>129015   mtanh   NCSCAL = 1*, warmup = 2</a:t>
            </a:r>
          </a:p>
        </p:txBody>
      </p:sp>
      <p:sp>
        <p:nvSpPr>
          <p:cNvPr id="2" name="">
            <a:extLst xmlns:a="http://schemas.openxmlformats.org/drawingml/2006/main">
              <a:ext uri="{FF2B5EF4-FFF2-40B4-BE49-F238E27FC236}">
                <a16:creationId xmlns:a16="http://schemas.microsoft.com/office/drawing/2014/main" id="{5E56E2D0-FB42-43F6-B18F-52824BFE0E0E}"/>
              </a:ext>
            </a:extLst>
          </p:cNvPr>
          <p:cNvSpPr>
            <a:spLocks xmlns:a="http://schemas.openxmlformats.org/drawingml/2006/main" noGrp="1"/>
          </p:cNvSpPr>
          <p:nvPr/>
        </p:nvSpPr>
        <p:spPr>
          <a:xfrm xmlns:a="http://schemas.openxmlformats.org/drawingml/2006/main">
            <a:off x="257175" y="581025"/>
            <a:ext cx="1466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Iteration counts and pressure response     8 runs     Bars label the number of iterations, including 00     Hatched bars / × = nonconverged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05a640461b54c19"/>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7890fb5d7514871"/>
          <a:stretch xmlns:a="http://schemas.openxmlformats.org/drawingml/2006/main"/>
        </p:blipFill>
        <p:spPr>
          <a:xfrm xmlns:a="http://schemas.openxmlformats.org/drawingml/2006/main">
            <a:off x="1528763" y="1390650"/>
            <a:ext cx="12144375" cy="1657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32f528965f74990"/>
          <a:stretch xmlns:a="http://schemas.openxmlformats.org/drawingml/2006/main"/>
        </p:blipFill>
        <p:spPr>
          <a:xfrm xmlns:a="http://schemas.openxmlformats.org/drawingml/2006/main">
            <a:off x="1564481" y="3067050"/>
            <a:ext cx="12072938" cy="4829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F4CC10E-6EDE-42C8-BFE0-DF300130C7CC}"/>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Pressure chains: q and shear versus solved pressure / source pressure at the three Chapman points. Lines join each scaling type separately.</a:t>
            </a:r>
          </a:p>
        </p:txBody>
      </p:sp>
      <p:sp>
        <p:nvSpPr>
          <p:cNvPr id="7" name="">
            <a:extLst xmlns:a="http://schemas.openxmlformats.org/drawingml/2006/main">
              <a:ext uri="{FF2B5EF4-FFF2-40B4-BE49-F238E27FC236}">
                <a16:creationId xmlns:a16="http://schemas.microsoft.com/office/drawing/2014/main" id="{0230B0C8-0AE9-43D4-AC01-D21037CCC439}"/>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2/14</a:t>
            </a:r>
          </a:p>
        </p:txBody>
      </p:sp>
      <p:sp>
        <p:nvSpPr>
          <p:cNvPr id="8" name="">
            <a:extLst xmlns:a="http://schemas.openxmlformats.org/drawingml/2006/main">
              <a:ext uri="{FF2B5EF4-FFF2-40B4-BE49-F238E27FC236}">
                <a16:creationId xmlns:a16="http://schemas.microsoft.com/office/drawing/2014/main" id="{F4D85BB5-7D0F-46B1-807C-DBCB6D2F7609}"/>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Star: source equilibrium. Hollow diamond: fitted baseline pressure at source q/shear.  *NCSCAL=1 inferred from referenced preset.</a:t>
            </a:r>
          </a:p>
        </p:txBody>
      </p:sp>
    </p:spTree>
    <p:extLst>
      <p:ext uri="{BB962C8B-B14F-4D97-AF65-F5344CB8AC3E}">
        <p14:creationId xmlns:p14="http://schemas.microsoft.com/office/powerpoint/2010/main" val="2609660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56D85E-7896-4E3F-853C-71F100229219}"/>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9E73"/>
                </a:solidFill>
                <a:latin typeface="Arial"/>
                <a:ea typeface="Arial"/>
                <a:cs typeface="Arial"/>
              </a:defRPr>
            </a:pPr>
            <a:r>
              <a:rPr sz="2400" b="1">
                <a:solidFill>
                  <a:srgbClr val="009E73"/>
                </a:solidFill>
                <a:latin typeface="Arial"/>
                <a:ea typeface="Arial"/>
                <a:cs typeface="Arial"/>
              </a:rPr>
              <a:t>129015   mtanh   NCSCAL = 1*, warmup = 0</a:t>
            </a:r>
          </a:p>
        </p:txBody>
      </p:sp>
      <p:sp>
        <p:nvSpPr>
          <p:cNvPr id="2" name="">
            <a:extLst xmlns:a="http://schemas.openxmlformats.org/drawingml/2006/main">
              <a:ext uri="{FF2B5EF4-FFF2-40B4-BE49-F238E27FC236}">
                <a16:creationId xmlns:a16="http://schemas.microsoft.com/office/drawing/2014/main" id="{BA0F7DFC-E850-4C6E-BCDC-B9E567CB4933}"/>
              </a:ext>
            </a:extLst>
          </p:cNvPr>
          <p:cNvSpPr>
            <a:spLocks xmlns:a="http://schemas.openxmlformats.org/drawingml/2006/main" noGrp="1"/>
          </p:cNvSpPr>
          <p:nvPr/>
        </p:nvSpPr>
        <p:spPr>
          <a:xfrm xmlns:a="http://schemas.openxmlformats.org/drawingml/2006/main">
            <a:off x="257175" y="581025"/>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Transformations and error traces     7 runs     I-star mix 0.02     Ip tolerance 2%     BS/q tolerance 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08d55f88ba249d9"/>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9231E03-DF81-466D-A095-C0AD2FA1E7D4}"/>
              </a:ext>
            </a:extLst>
          </p:cNvPr>
          <p:cNvSpPr>
            <a:spLocks xmlns:a="http://schemas.openxmlformats.org/drawingml/2006/main" noGrp="1"/>
          </p:cNvSpPr>
          <p:nvPr/>
        </p:nvSpPr>
        <p:spPr>
          <a:xfrm xmlns:a="http://schemas.openxmlformats.org/drawingml/2006/main">
            <a:off x="238125" y="14192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Saved transformation profiles</a:t>
            </a:r>
          </a:p>
        </p:txBody>
      </p:sp>
      <p:sp>
        <p:nvSpPr>
          <p:cNvPr id="5" name="">
            <a:extLst xmlns:a="http://schemas.openxmlformats.org/drawingml/2006/main">
              <a:ext uri="{FF2B5EF4-FFF2-40B4-BE49-F238E27FC236}">
                <a16:creationId xmlns:a16="http://schemas.microsoft.com/office/drawing/2014/main" id="{8F55C6D0-43F8-43B9-80C4-7114DA072614}"/>
              </a:ext>
            </a:extLst>
          </p:cNvPr>
          <p:cNvSpPr>
            <a:spLocks xmlns:a="http://schemas.openxmlformats.org/drawingml/2006/main" noGrp="1"/>
          </p:cNvSpPr>
          <p:nvPr/>
        </p:nvSpPr>
        <p:spPr>
          <a:xfrm xmlns:a="http://schemas.openxmlformats.org/drawingml/2006/main">
            <a:off x="7524750" y="1419225"/>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Iteration errors (relative fractions)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2f342d0a5a84ac6"/>
          <a:stretch xmlns:a="http://schemas.openxmlformats.org/drawingml/2006/main"/>
        </p:blipFill>
        <p:spPr>
          <a:xfrm xmlns:a="http://schemas.openxmlformats.org/drawingml/2006/main">
            <a:off x="714375" y="1790700"/>
            <a:ext cx="5715000" cy="2857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7060e7e22244186"/>
          <a:stretch xmlns:a="http://schemas.openxmlformats.org/drawingml/2006/main"/>
        </p:blipFill>
        <p:spPr>
          <a:xfrm xmlns:a="http://schemas.openxmlformats.org/drawingml/2006/main">
            <a:off x="714375" y="4762500"/>
            <a:ext cx="5715000" cy="28575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77432e02a304a33"/>
          <a:stretch xmlns:a="http://schemas.openxmlformats.org/drawingml/2006/main"/>
        </p:blipFill>
        <p:spPr>
          <a:xfrm xmlns:a="http://schemas.openxmlformats.org/drawingml/2006/main">
            <a:off x="7478526" y="1762125"/>
            <a:ext cx="7236199" cy="6000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A4127AC-EF4A-44D2-AFBA-046AD30C4593}"/>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One color per scaling type/factor across all plots. Profiles: solid electrons, dashed ions where shown. Black curves: reference profiles.</a:t>
            </a:r>
          </a:p>
        </p:txBody>
      </p:sp>
      <p:sp>
        <p:nvSpPr>
          <p:cNvPr id="10" name="">
            <a:extLst xmlns:a="http://schemas.openxmlformats.org/drawingml/2006/main">
              <a:ext uri="{FF2B5EF4-FFF2-40B4-BE49-F238E27FC236}">
                <a16:creationId xmlns:a16="http://schemas.microsoft.com/office/drawing/2014/main" id="{7795C65B-D470-4C38-A3B3-157357C06FE5}"/>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3/14</a:t>
            </a:r>
          </a:p>
        </p:txBody>
      </p:sp>
      <p:sp>
        <p:nvSpPr>
          <p:cNvPr id="11" name="">
            <a:extLst xmlns:a="http://schemas.openxmlformats.org/drawingml/2006/main">
              <a:ext uri="{FF2B5EF4-FFF2-40B4-BE49-F238E27FC236}">
                <a16:creationId xmlns:a16="http://schemas.microsoft.com/office/drawing/2014/main" id="{F42360BD-C0BC-4AD9-AC4A-F687334AF019}"/>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*NCSCAL=1 inferred from the referenced preset. Amplitude change may be set to zero by the stopping rule. BS/q traces measure successive change.</a:t>
            </a:r>
          </a:p>
        </p:txBody>
      </p:sp>
    </p:spTree>
    <p:extLst>
      <p:ext uri="{BB962C8B-B14F-4D97-AF65-F5344CB8AC3E}">
        <p14:creationId xmlns:p14="http://schemas.microsoft.com/office/powerpoint/2010/main" val="9477810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818259-760D-4ED4-B075-CF98A1E40319}"/>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9E73"/>
                </a:solidFill>
                <a:latin typeface="Arial"/>
                <a:ea typeface="Arial"/>
                <a:cs typeface="Arial"/>
              </a:defRPr>
            </a:pPr>
            <a:r>
              <a:rPr sz="2400" b="1">
                <a:solidFill>
                  <a:srgbClr val="009E73"/>
                </a:solidFill>
                <a:latin typeface="Arial"/>
                <a:ea typeface="Arial"/>
                <a:cs typeface="Arial"/>
              </a:rPr>
              <a:t>129015   mtanh   NCSCAL = 1*, warmup = 0</a:t>
            </a:r>
          </a:p>
        </p:txBody>
      </p:sp>
      <p:sp>
        <p:nvSpPr>
          <p:cNvPr id="2" name="">
            <a:extLst xmlns:a="http://schemas.openxmlformats.org/drawingml/2006/main">
              <a:ext uri="{FF2B5EF4-FFF2-40B4-BE49-F238E27FC236}">
                <a16:creationId xmlns:a16="http://schemas.microsoft.com/office/drawing/2014/main" id="{8FB01F59-CE5D-4502-9CD8-8F5240EF05A8}"/>
              </a:ext>
            </a:extLst>
          </p:cNvPr>
          <p:cNvSpPr>
            <a:spLocks xmlns:a="http://schemas.openxmlformats.org/drawingml/2006/main" noGrp="1"/>
          </p:cNvSpPr>
          <p:nvPr/>
        </p:nvSpPr>
        <p:spPr>
          <a:xfrm xmlns:a="http://schemas.openxmlformats.org/drawingml/2006/main">
            <a:off x="257175" y="581025"/>
            <a:ext cx="1466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Iteration counts and pressure response     7 runs     Bars label the number of iterations, including 00     Hatched bars / × = nonconverged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4d39eb2433a4018"/>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7d65d610b1f41fb"/>
          <a:stretch xmlns:a="http://schemas.openxmlformats.org/drawingml/2006/main"/>
        </p:blipFill>
        <p:spPr>
          <a:xfrm xmlns:a="http://schemas.openxmlformats.org/drawingml/2006/main">
            <a:off x="1528763" y="1390650"/>
            <a:ext cx="12144375" cy="1657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6c0c0757e734cbd"/>
          <a:stretch xmlns:a="http://schemas.openxmlformats.org/drawingml/2006/main"/>
        </p:blipFill>
        <p:spPr>
          <a:xfrm xmlns:a="http://schemas.openxmlformats.org/drawingml/2006/main">
            <a:off x="1564481" y="3067050"/>
            <a:ext cx="12072938" cy="4829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8F9D057-EF30-4841-AAC2-1A64BACEF47C}"/>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Pressure chains: q and shear versus solved pressure / source pressure at the three Chapman points. Lines join each scaling type separately.</a:t>
            </a:r>
          </a:p>
        </p:txBody>
      </p:sp>
      <p:sp>
        <p:nvSpPr>
          <p:cNvPr id="7" name="">
            <a:extLst xmlns:a="http://schemas.openxmlformats.org/drawingml/2006/main">
              <a:ext uri="{FF2B5EF4-FFF2-40B4-BE49-F238E27FC236}">
                <a16:creationId xmlns:a16="http://schemas.microsoft.com/office/drawing/2014/main" id="{714CD4A7-8660-4C87-B4CA-7BD22029DFF3}"/>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4/14</a:t>
            </a:r>
          </a:p>
        </p:txBody>
      </p:sp>
      <p:sp>
        <p:nvSpPr>
          <p:cNvPr id="8" name="">
            <a:extLst xmlns:a="http://schemas.openxmlformats.org/drawingml/2006/main">
              <a:ext uri="{FF2B5EF4-FFF2-40B4-BE49-F238E27FC236}">
                <a16:creationId xmlns:a16="http://schemas.microsoft.com/office/drawing/2014/main" id="{4E3EAD1C-9803-48AC-BEB6-20DBFABE201B}"/>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Star: source equilibrium. Hollow diamond: fitted baseline pressure at source q/shear.  *NCSCAL=1 inferred from referenced preset.</a:t>
            </a:r>
          </a:p>
        </p:txBody>
      </p:sp>
    </p:spTree>
    <p:extLst>
      <p:ext uri="{BB962C8B-B14F-4D97-AF65-F5344CB8AC3E}">
        <p14:creationId xmlns:p14="http://schemas.microsoft.com/office/powerpoint/2010/main" val="5372009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6F2152-630C-4351-81D9-09EB21C49176}"/>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23BB1"/>
                </a:solidFill>
                <a:latin typeface="Arial"/>
                <a:ea typeface="Arial"/>
                <a:cs typeface="Arial"/>
              </a:defRPr>
            </a:pPr>
            <a:r>
              <a:rPr sz="2400" b="1">
                <a:solidFill>
                  <a:srgbClr val="A23BB1"/>
                </a:solidFill>
                <a:latin typeface="Arial"/>
                <a:ea typeface="Arial"/>
                <a:cs typeface="Arial"/>
              </a:rPr>
              <a:t>129015   mtanh   NCSCAL = 4, warmup = 2</a:t>
            </a:r>
          </a:p>
        </p:txBody>
      </p:sp>
      <p:sp>
        <p:nvSpPr>
          <p:cNvPr id="2" name="">
            <a:extLst xmlns:a="http://schemas.openxmlformats.org/drawingml/2006/main">
              <a:ext uri="{FF2B5EF4-FFF2-40B4-BE49-F238E27FC236}">
                <a16:creationId xmlns:a16="http://schemas.microsoft.com/office/drawing/2014/main" id="{21E10FEF-AE48-4605-A429-899EADAC6A2B}"/>
              </a:ext>
            </a:extLst>
          </p:cNvPr>
          <p:cNvSpPr>
            <a:spLocks xmlns:a="http://schemas.openxmlformats.org/drawingml/2006/main" noGrp="1"/>
          </p:cNvSpPr>
          <p:nvPr/>
        </p:nvSpPr>
        <p:spPr>
          <a:xfrm xmlns:a="http://schemas.openxmlformats.org/drawingml/2006/main">
            <a:off x="257175" y="581025"/>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Transformations and error traces     6 runs     I-star mix 0.05     Ip tolerance 0.2%     BS/q tolerance 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daeb5dd18c43ce"/>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3C1C8CC-FE8C-456D-842F-EC684FBEB504}"/>
              </a:ext>
            </a:extLst>
          </p:cNvPr>
          <p:cNvSpPr>
            <a:spLocks xmlns:a="http://schemas.openxmlformats.org/drawingml/2006/main" noGrp="1"/>
          </p:cNvSpPr>
          <p:nvPr/>
        </p:nvSpPr>
        <p:spPr>
          <a:xfrm xmlns:a="http://schemas.openxmlformats.org/drawingml/2006/main">
            <a:off x="238125" y="14192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Saved transformation profiles</a:t>
            </a:r>
          </a:p>
        </p:txBody>
      </p:sp>
      <p:sp>
        <p:nvSpPr>
          <p:cNvPr id="5" name="">
            <a:extLst xmlns:a="http://schemas.openxmlformats.org/drawingml/2006/main">
              <a:ext uri="{FF2B5EF4-FFF2-40B4-BE49-F238E27FC236}">
                <a16:creationId xmlns:a16="http://schemas.microsoft.com/office/drawing/2014/main" id="{917B93DE-8117-4300-BD7C-E294E0E3B9E2}"/>
              </a:ext>
            </a:extLst>
          </p:cNvPr>
          <p:cNvSpPr>
            <a:spLocks xmlns:a="http://schemas.openxmlformats.org/drawingml/2006/main" noGrp="1"/>
          </p:cNvSpPr>
          <p:nvPr/>
        </p:nvSpPr>
        <p:spPr>
          <a:xfrm xmlns:a="http://schemas.openxmlformats.org/drawingml/2006/main">
            <a:off x="7524750" y="1419225"/>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Iteration errors (relative fractions)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d35d28c45df488b"/>
          <a:stretch xmlns:a="http://schemas.openxmlformats.org/drawingml/2006/main"/>
        </p:blipFill>
        <p:spPr>
          <a:xfrm xmlns:a="http://schemas.openxmlformats.org/drawingml/2006/main">
            <a:off x="714375" y="1790700"/>
            <a:ext cx="5715000" cy="2857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3eab3a159424b6a"/>
          <a:stretch xmlns:a="http://schemas.openxmlformats.org/drawingml/2006/main"/>
        </p:blipFill>
        <p:spPr>
          <a:xfrm xmlns:a="http://schemas.openxmlformats.org/drawingml/2006/main">
            <a:off x="714375" y="4762500"/>
            <a:ext cx="5715000" cy="28575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e4672a574a54a3d"/>
          <a:stretch xmlns:a="http://schemas.openxmlformats.org/drawingml/2006/main"/>
        </p:blipFill>
        <p:spPr>
          <a:xfrm xmlns:a="http://schemas.openxmlformats.org/drawingml/2006/main">
            <a:off x="7478526" y="1762125"/>
            <a:ext cx="7236199" cy="6000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2C5C004-E78C-4DCD-B40F-61ADD75FB13E}"/>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One color per scaling type/factor across all plots. Profiles: solid electrons, dashed ions where shown. Black curves: reference profiles.</a:t>
            </a:r>
          </a:p>
        </p:txBody>
      </p:sp>
      <p:sp>
        <p:nvSpPr>
          <p:cNvPr id="10" name="">
            <a:extLst xmlns:a="http://schemas.openxmlformats.org/drawingml/2006/main">
              <a:ext uri="{FF2B5EF4-FFF2-40B4-BE49-F238E27FC236}">
                <a16:creationId xmlns:a16="http://schemas.microsoft.com/office/drawing/2014/main" id="{8F9AC802-C7D7-4EF2-B479-411DB76BE16F}"/>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5/14</a:t>
            </a:r>
          </a:p>
        </p:txBody>
      </p:sp>
      <p:sp>
        <p:nvSpPr>
          <p:cNvPr id="11" name="">
            <a:extLst xmlns:a="http://schemas.openxmlformats.org/drawingml/2006/main">
              <a:ext uri="{FF2B5EF4-FFF2-40B4-BE49-F238E27FC236}">
                <a16:creationId xmlns:a16="http://schemas.microsoft.com/office/drawing/2014/main" id="{504FB66F-605A-4733-B7A9-44F9738915EC}"/>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Amplitude change may be set to zero by the stopping rule. BS/q traces measure successive change.</a:t>
            </a:r>
          </a:p>
        </p:txBody>
      </p:sp>
    </p:spTree>
    <p:extLst>
      <p:ext uri="{BB962C8B-B14F-4D97-AF65-F5344CB8AC3E}">
        <p14:creationId xmlns:p14="http://schemas.microsoft.com/office/powerpoint/2010/main" val="17920091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95C820-191B-41AA-8E4D-18BA0A3F197B}"/>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23BB1"/>
                </a:solidFill>
                <a:latin typeface="Arial"/>
                <a:ea typeface="Arial"/>
                <a:cs typeface="Arial"/>
              </a:defRPr>
            </a:pPr>
            <a:r>
              <a:rPr sz="2400" b="1">
                <a:solidFill>
                  <a:srgbClr val="A23BB1"/>
                </a:solidFill>
                <a:latin typeface="Arial"/>
                <a:ea typeface="Arial"/>
                <a:cs typeface="Arial"/>
              </a:rPr>
              <a:t>129015   mtanh   NCSCAL = 4, warmup = 2</a:t>
            </a:r>
          </a:p>
        </p:txBody>
      </p:sp>
      <p:sp>
        <p:nvSpPr>
          <p:cNvPr id="2" name="">
            <a:extLst xmlns:a="http://schemas.openxmlformats.org/drawingml/2006/main">
              <a:ext uri="{FF2B5EF4-FFF2-40B4-BE49-F238E27FC236}">
                <a16:creationId xmlns:a16="http://schemas.microsoft.com/office/drawing/2014/main" id="{46EA1EE1-085C-4DF3-9059-DEAF07F54DB5}"/>
              </a:ext>
            </a:extLst>
          </p:cNvPr>
          <p:cNvSpPr>
            <a:spLocks xmlns:a="http://schemas.openxmlformats.org/drawingml/2006/main" noGrp="1"/>
          </p:cNvSpPr>
          <p:nvPr/>
        </p:nvSpPr>
        <p:spPr>
          <a:xfrm xmlns:a="http://schemas.openxmlformats.org/drawingml/2006/main">
            <a:off x="257175" y="581025"/>
            <a:ext cx="1466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Iteration counts and pressure response     6 runs     Bars label the number of iterations, including 00     Hatched bars / × = nonconverged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36e18cb688443fa"/>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dc36664b09d4552"/>
          <a:stretch xmlns:a="http://schemas.openxmlformats.org/drawingml/2006/main"/>
        </p:blipFill>
        <p:spPr>
          <a:xfrm xmlns:a="http://schemas.openxmlformats.org/drawingml/2006/main">
            <a:off x="1528763" y="1390650"/>
            <a:ext cx="12144375" cy="1657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951d8d3368d4960"/>
          <a:stretch xmlns:a="http://schemas.openxmlformats.org/drawingml/2006/main"/>
        </p:blipFill>
        <p:spPr>
          <a:xfrm xmlns:a="http://schemas.openxmlformats.org/drawingml/2006/main">
            <a:off x="1564481" y="3067050"/>
            <a:ext cx="12072938" cy="4829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4D9358-2E96-48F5-AE28-904CAF945F32}"/>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Pressure chains: q and shear versus solved pressure / source pressure at the three Chapman points. Lines join each scaling type separately.</a:t>
            </a:r>
          </a:p>
        </p:txBody>
      </p:sp>
      <p:sp>
        <p:nvSpPr>
          <p:cNvPr id="7" name="">
            <a:extLst xmlns:a="http://schemas.openxmlformats.org/drawingml/2006/main">
              <a:ext uri="{FF2B5EF4-FFF2-40B4-BE49-F238E27FC236}">
                <a16:creationId xmlns:a16="http://schemas.microsoft.com/office/drawing/2014/main" id="{4A798349-C776-4FD3-9E5F-52AE43B813ED}"/>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6/14</a:t>
            </a:r>
          </a:p>
        </p:txBody>
      </p:sp>
      <p:sp>
        <p:nvSpPr>
          <p:cNvPr id="8" name="">
            <a:extLst xmlns:a="http://schemas.openxmlformats.org/drawingml/2006/main">
              <a:ext uri="{FF2B5EF4-FFF2-40B4-BE49-F238E27FC236}">
                <a16:creationId xmlns:a16="http://schemas.microsoft.com/office/drawing/2014/main" id="{3E23030F-F173-48E1-8EEE-622997632C26}"/>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Star: source equilibrium. Hollow diamond: fitted baseline pressure at source q/shear.</a:t>
            </a:r>
          </a:p>
        </p:txBody>
      </p:sp>
    </p:spTree>
    <p:extLst>
      <p:ext uri="{BB962C8B-B14F-4D97-AF65-F5344CB8AC3E}">
        <p14:creationId xmlns:p14="http://schemas.microsoft.com/office/powerpoint/2010/main" val="21397617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AB354F-B7F6-4D41-8AB9-C7457F4E76B2}"/>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55E00"/>
                </a:solidFill>
                <a:latin typeface="Arial"/>
                <a:ea typeface="Arial"/>
                <a:cs typeface="Arial"/>
              </a:defRPr>
            </a:pPr>
            <a:r>
              <a:rPr sz="2400" b="1">
                <a:solidFill>
                  <a:srgbClr val="D55E00"/>
                </a:solidFill>
                <a:latin typeface="Arial"/>
                <a:ea typeface="Arial"/>
                <a:cs typeface="Arial"/>
              </a:rPr>
              <a:t>129015   mtanh   NCSCAL = 4, warmup = 0</a:t>
            </a:r>
          </a:p>
        </p:txBody>
      </p:sp>
      <p:sp>
        <p:nvSpPr>
          <p:cNvPr id="2" name="">
            <a:extLst xmlns:a="http://schemas.openxmlformats.org/drawingml/2006/main">
              <a:ext uri="{FF2B5EF4-FFF2-40B4-BE49-F238E27FC236}">
                <a16:creationId xmlns:a16="http://schemas.microsoft.com/office/drawing/2014/main" id="{377DDE11-F5AF-43DF-A7F8-7EAA6823313D}"/>
              </a:ext>
            </a:extLst>
          </p:cNvPr>
          <p:cNvSpPr>
            <a:spLocks xmlns:a="http://schemas.openxmlformats.org/drawingml/2006/main" noGrp="1"/>
          </p:cNvSpPr>
          <p:nvPr/>
        </p:nvSpPr>
        <p:spPr>
          <a:xfrm xmlns:a="http://schemas.openxmlformats.org/drawingml/2006/main">
            <a:off x="257175" y="581025"/>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Transformations and error traces     10 runs     I-star mix 0.05     Ip tolerance 0.2%     BS/q tolerance 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38dd2591e9d45b4"/>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48597D-6118-4765-908E-A46CCD07D069}"/>
              </a:ext>
            </a:extLst>
          </p:cNvPr>
          <p:cNvSpPr>
            <a:spLocks xmlns:a="http://schemas.openxmlformats.org/drawingml/2006/main" noGrp="1"/>
          </p:cNvSpPr>
          <p:nvPr/>
        </p:nvSpPr>
        <p:spPr>
          <a:xfrm xmlns:a="http://schemas.openxmlformats.org/drawingml/2006/main">
            <a:off x="238125" y="14192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Saved transformation profiles</a:t>
            </a:r>
          </a:p>
        </p:txBody>
      </p:sp>
      <p:sp>
        <p:nvSpPr>
          <p:cNvPr id="5" name="">
            <a:extLst xmlns:a="http://schemas.openxmlformats.org/drawingml/2006/main">
              <a:ext uri="{FF2B5EF4-FFF2-40B4-BE49-F238E27FC236}">
                <a16:creationId xmlns:a16="http://schemas.microsoft.com/office/drawing/2014/main" id="{D146794C-61DF-4938-91B5-5CE8AD458B56}"/>
              </a:ext>
            </a:extLst>
          </p:cNvPr>
          <p:cNvSpPr>
            <a:spLocks xmlns:a="http://schemas.openxmlformats.org/drawingml/2006/main" noGrp="1"/>
          </p:cNvSpPr>
          <p:nvPr/>
        </p:nvSpPr>
        <p:spPr>
          <a:xfrm xmlns:a="http://schemas.openxmlformats.org/drawingml/2006/main">
            <a:off x="7524750" y="1419225"/>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Iteration errors (relative fractions)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59766836eaf426f"/>
          <a:stretch xmlns:a="http://schemas.openxmlformats.org/drawingml/2006/main"/>
        </p:blipFill>
        <p:spPr>
          <a:xfrm xmlns:a="http://schemas.openxmlformats.org/drawingml/2006/main">
            <a:off x="714375" y="1790700"/>
            <a:ext cx="5715000" cy="2857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571a546f2c9450d"/>
          <a:stretch xmlns:a="http://schemas.openxmlformats.org/drawingml/2006/main"/>
        </p:blipFill>
        <p:spPr>
          <a:xfrm xmlns:a="http://schemas.openxmlformats.org/drawingml/2006/main">
            <a:off x="714375" y="4762500"/>
            <a:ext cx="5715000" cy="28575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1ca36d522764611"/>
          <a:stretch xmlns:a="http://schemas.openxmlformats.org/drawingml/2006/main"/>
        </p:blipFill>
        <p:spPr>
          <a:xfrm xmlns:a="http://schemas.openxmlformats.org/drawingml/2006/main">
            <a:off x="7478526" y="1762125"/>
            <a:ext cx="7236199" cy="6000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B005990-536C-4E53-8B03-26AE051F6911}"/>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One color per scaling type/factor across all plots. Profiles: solid electrons, dashed ions where shown. Black curves: reference profiles.</a:t>
            </a:r>
          </a:p>
        </p:txBody>
      </p:sp>
      <p:sp>
        <p:nvSpPr>
          <p:cNvPr id="10" name="">
            <a:extLst xmlns:a="http://schemas.openxmlformats.org/drawingml/2006/main">
              <a:ext uri="{FF2B5EF4-FFF2-40B4-BE49-F238E27FC236}">
                <a16:creationId xmlns:a16="http://schemas.microsoft.com/office/drawing/2014/main" id="{AF5BF043-2BD0-4AAD-B809-2E9B241AC79E}"/>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7/14</a:t>
            </a:r>
          </a:p>
        </p:txBody>
      </p:sp>
      <p:sp>
        <p:nvSpPr>
          <p:cNvPr id="11" name="">
            <a:extLst xmlns:a="http://schemas.openxmlformats.org/drawingml/2006/main">
              <a:ext uri="{FF2B5EF4-FFF2-40B4-BE49-F238E27FC236}">
                <a16:creationId xmlns:a16="http://schemas.microsoft.com/office/drawing/2014/main" id="{88036B47-E447-4F25-AD48-9155B7C30BB0}"/>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Amplitude change may be set to zero by the stopping rule. BS/q traces measure successive change.</a:t>
            </a:r>
          </a:p>
        </p:txBody>
      </p:sp>
    </p:spTree>
    <p:extLst>
      <p:ext uri="{BB962C8B-B14F-4D97-AF65-F5344CB8AC3E}">
        <p14:creationId xmlns:p14="http://schemas.microsoft.com/office/powerpoint/2010/main" val="16907849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7A64BE-52DA-4A7E-A014-3C9A08DD306D}"/>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55E00"/>
                </a:solidFill>
                <a:latin typeface="Arial"/>
                <a:ea typeface="Arial"/>
                <a:cs typeface="Arial"/>
              </a:defRPr>
            </a:pPr>
            <a:r>
              <a:rPr sz="2400" b="1">
                <a:solidFill>
                  <a:srgbClr val="D55E00"/>
                </a:solidFill>
                <a:latin typeface="Arial"/>
                <a:ea typeface="Arial"/>
                <a:cs typeface="Arial"/>
              </a:rPr>
              <a:t>129015   mtanh   NCSCAL = 4, warmup = 0</a:t>
            </a:r>
          </a:p>
        </p:txBody>
      </p:sp>
      <p:sp>
        <p:nvSpPr>
          <p:cNvPr id="2" name="">
            <a:extLst xmlns:a="http://schemas.openxmlformats.org/drawingml/2006/main">
              <a:ext uri="{FF2B5EF4-FFF2-40B4-BE49-F238E27FC236}">
                <a16:creationId xmlns:a16="http://schemas.microsoft.com/office/drawing/2014/main" id="{6A020F38-091E-4A25-96D9-70799C07F7FF}"/>
              </a:ext>
            </a:extLst>
          </p:cNvPr>
          <p:cNvSpPr>
            <a:spLocks xmlns:a="http://schemas.openxmlformats.org/drawingml/2006/main" noGrp="1"/>
          </p:cNvSpPr>
          <p:nvPr/>
        </p:nvSpPr>
        <p:spPr>
          <a:xfrm xmlns:a="http://schemas.openxmlformats.org/drawingml/2006/main">
            <a:off x="257175" y="581025"/>
            <a:ext cx="1466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Iteration counts and pressure response     10 runs     Bars label the number of iterations, including 00     Hatched bars / × = nonconverged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6cd7add7ad14e09"/>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0dbca2563274b98"/>
          <a:stretch xmlns:a="http://schemas.openxmlformats.org/drawingml/2006/main"/>
        </p:blipFill>
        <p:spPr>
          <a:xfrm xmlns:a="http://schemas.openxmlformats.org/drawingml/2006/main">
            <a:off x="1528763" y="1390650"/>
            <a:ext cx="12144375" cy="1657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395a58f057e4af5"/>
          <a:stretch xmlns:a="http://schemas.openxmlformats.org/drawingml/2006/main"/>
        </p:blipFill>
        <p:spPr>
          <a:xfrm xmlns:a="http://schemas.openxmlformats.org/drawingml/2006/main">
            <a:off x="1564481" y="3067050"/>
            <a:ext cx="12072938" cy="4829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46E1B6-6E73-49F5-AB87-AB2FE0A354C2}"/>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Pressure chains: q and shear versus solved pressure / source pressure at the three Chapman points. Lines join each scaling type separately.</a:t>
            </a:r>
          </a:p>
        </p:txBody>
      </p:sp>
      <p:sp>
        <p:nvSpPr>
          <p:cNvPr id="7" name="">
            <a:extLst xmlns:a="http://schemas.openxmlformats.org/drawingml/2006/main">
              <a:ext uri="{FF2B5EF4-FFF2-40B4-BE49-F238E27FC236}">
                <a16:creationId xmlns:a16="http://schemas.microsoft.com/office/drawing/2014/main" id="{17B193CA-300E-49D0-BE5C-F8CED2A9C784}"/>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8/14</a:t>
            </a:r>
          </a:p>
        </p:txBody>
      </p:sp>
      <p:sp>
        <p:nvSpPr>
          <p:cNvPr id="8" name="">
            <a:extLst xmlns:a="http://schemas.openxmlformats.org/drawingml/2006/main">
              <a:ext uri="{FF2B5EF4-FFF2-40B4-BE49-F238E27FC236}">
                <a16:creationId xmlns:a16="http://schemas.microsoft.com/office/drawing/2014/main" id="{57B66386-1C78-4D8B-9FD6-DC42F3C9F727}"/>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Star: source equilibrium. Hollow diamond: fitted baseline pressure at source q/shear.</a:t>
            </a:r>
          </a:p>
        </p:txBody>
      </p:sp>
    </p:spTree>
    <p:extLst>
      <p:ext uri="{BB962C8B-B14F-4D97-AF65-F5344CB8AC3E}">
        <p14:creationId xmlns:p14="http://schemas.microsoft.com/office/powerpoint/2010/main" val="1437696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501CC4-230E-4320-B556-A53C30514093}"/>
              </a:ext>
            </a:extLst>
          </p:cNvPr>
          <p:cNvSpPr>
            <a:spLocks xmlns:a="http://schemas.openxmlformats.org/drawingml/2006/main" noGrp="1"/>
          </p:cNvSpPr>
          <p:nvPr/>
        </p:nvSpPr>
        <p:spPr>
          <a:xfrm xmlns:a="http://schemas.openxmlformats.org/drawingml/2006/main">
            <a:off x="238125" y="133350"/>
            <a:ext cx="1466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63B"/>
                </a:solidFill>
                <a:latin typeface="Arial"/>
                <a:ea typeface="Arial"/>
                <a:cs typeface="Arial"/>
              </a:defRPr>
            </a:pPr>
            <a:r>
              <a:rPr sz="2400" b="1">
                <a:solidFill>
                  <a:srgbClr val="17263B"/>
                </a:solidFill>
                <a:latin typeface="Arial"/>
                <a:ea typeface="Arial"/>
                <a:cs typeface="Arial"/>
              </a:rPr>
              <a:t>129015   mtanh pressure chains across solver variants</a:t>
            </a:r>
          </a:p>
        </p:txBody>
      </p:sp>
      <p:sp>
        <p:nvSpPr>
          <p:cNvPr id="2" name="">
            <a:extLst xmlns:a="http://schemas.openxmlformats.org/drawingml/2006/main">
              <a:ext uri="{FF2B5EF4-FFF2-40B4-BE49-F238E27FC236}">
                <a16:creationId xmlns:a16="http://schemas.microsoft.com/office/drawing/2014/main" id="{21A22A55-25DA-4AA7-AA3C-BCD63782D583}"/>
              </a:ext>
            </a:extLst>
          </p:cNvPr>
          <p:cNvSpPr>
            <a:spLocks xmlns:a="http://schemas.openxmlformats.org/drawingml/2006/main" noGrp="1"/>
          </p:cNvSpPr>
          <p:nvPr/>
        </p:nvSpPr>
        <p:spPr>
          <a:xfrm xmlns:a="http://schemas.openxmlformats.org/drawingml/2006/main">
            <a:off x="257175" y="590550"/>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63B"/>
                </a:solidFill>
                <a:latin typeface="Arial"/>
                <a:ea typeface="Arial"/>
                <a:cs typeface="Arial"/>
              </a:defRPr>
            </a:pPr>
            <a:r>
              <a:rPr sz="1425" b="0">
                <a:solidFill>
                  <a:srgbClr val="17263B"/>
                </a:solidFill>
                <a:latin typeface="Arial"/>
                <a:ea typeface="Arial"/>
                <a:cs typeface="Arial"/>
              </a:rPr>
              <a:t>Marker border identifies the solver variant. Marker fill matches that scaling type/factor in every profile, trace and bar.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575260bb56c4c15"/>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21F234-7149-42E6-A4E0-326D7590620E}"/>
              </a:ext>
            </a:extLst>
          </p:cNvPr>
          <p:cNvSpPr>
            <a:spLocks xmlns:a="http://schemas.openxmlformats.org/drawingml/2006/main" noGrp="1"/>
          </p:cNvSpPr>
          <p:nvPr/>
        </p:nvSpPr>
        <p:spPr>
          <a:xfrm xmlns:a="http://schemas.openxmlformats.org/drawingml/2006/main">
            <a:off x="285750" y="14382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072B2"/>
                </a:solidFill>
                <a:latin typeface="Arial"/>
                <a:ea typeface="Arial"/>
                <a:cs typeface="Arial"/>
              </a:defRPr>
            </a:pPr>
            <a:r>
              <a:rPr sz="1500" b="1">
                <a:solidFill>
                  <a:srgbClr val="0072B2"/>
                </a:solidFill>
                <a:latin typeface="Arial"/>
                <a:ea typeface="Arial"/>
                <a:cs typeface="Arial"/>
              </a:rPr>
              <a:t>○  NCSCAL 1* / warmup 2</a:t>
            </a:r>
          </a:p>
        </p:txBody>
      </p:sp>
      <p:sp>
        <p:nvSpPr>
          <p:cNvPr id="5" name="">
            <a:extLst xmlns:a="http://schemas.openxmlformats.org/drawingml/2006/main">
              <a:ext uri="{FF2B5EF4-FFF2-40B4-BE49-F238E27FC236}">
                <a16:creationId xmlns:a16="http://schemas.microsoft.com/office/drawing/2014/main" id="{CB3ED886-3E0B-4A5E-95E3-8BF7DA5CB10F}"/>
              </a:ext>
            </a:extLst>
          </p:cNvPr>
          <p:cNvSpPr>
            <a:spLocks xmlns:a="http://schemas.openxmlformats.org/drawingml/2006/main" noGrp="1"/>
          </p:cNvSpPr>
          <p:nvPr/>
        </p:nvSpPr>
        <p:spPr>
          <a:xfrm xmlns:a="http://schemas.openxmlformats.org/drawingml/2006/main">
            <a:off x="3952875" y="14382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09E73"/>
                </a:solidFill>
                <a:latin typeface="Arial"/>
                <a:ea typeface="Arial"/>
                <a:cs typeface="Arial"/>
              </a:defRPr>
            </a:pPr>
            <a:r>
              <a:rPr sz="1500" b="1">
                <a:solidFill>
                  <a:srgbClr val="009E73"/>
                </a:solidFill>
                <a:latin typeface="Arial"/>
                <a:ea typeface="Arial"/>
                <a:cs typeface="Arial"/>
              </a:rPr>
              <a:t>○  NCSCAL 1* / warmup 0</a:t>
            </a:r>
          </a:p>
        </p:txBody>
      </p:sp>
      <p:sp>
        <p:nvSpPr>
          <p:cNvPr id="6" name="">
            <a:extLst xmlns:a="http://schemas.openxmlformats.org/drawingml/2006/main">
              <a:ext uri="{FF2B5EF4-FFF2-40B4-BE49-F238E27FC236}">
                <a16:creationId xmlns:a16="http://schemas.microsoft.com/office/drawing/2014/main" id="{0C5B55A1-C086-43B9-BE24-BC845BF5C43C}"/>
              </a:ext>
            </a:extLst>
          </p:cNvPr>
          <p:cNvSpPr>
            <a:spLocks xmlns:a="http://schemas.openxmlformats.org/drawingml/2006/main" noGrp="1"/>
          </p:cNvSpPr>
          <p:nvPr/>
        </p:nvSpPr>
        <p:spPr>
          <a:xfrm xmlns:a="http://schemas.openxmlformats.org/drawingml/2006/main">
            <a:off x="7620000" y="14382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23BB1"/>
                </a:solidFill>
                <a:latin typeface="Arial"/>
                <a:ea typeface="Arial"/>
                <a:cs typeface="Arial"/>
              </a:defRPr>
            </a:pPr>
            <a:r>
              <a:rPr sz="1500" b="1">
                <a:solidFill>
                  <a:srgbClr val="A23BB1"/>
                </a:solidFill>
                <a:latin typeface="Arial"/>
                <a:ea typeface="Arial"/>
                <a:cs typeface="Arial"/>
              </a:rPr>
              <a:t>○  NCSCAL 4 / warmup 2</a:t>
            </a:r>
          </a:p>
        </p:txBody>
      </p:sp>
      <p:sp>
        <p:nvSpPr>
          <p:cNvPr id="7" name="">
            <a:extLst xmlns:a="http://schemas.openxmlformats.org/drawingml/2006/main">
              <a:ext uri="{FF2B5EF4-FFF2-40B4-BE49-F238E27FC236}">
                <a16:creationId xmlns:a16="http://schemas.microsoft.com/office/drawing/2014/main" id="{8B23173A-45F4-4C79-ABB4-B561A34B174A}"/>
              </a:ext>
            </a:extLst>
          </p:cNvPr>
          <p:cNvSpPr>
            <a:spLocks xmlns:a="http://schemas.openxmlformats.org/drawingml/2006/main" noGrp="1"/>
          </p:cNvSpPr>
          <p:nvPr/>
        </p:nvSpPr>
        <p:spPr>
          <a:xfrm xmlns:a="http://schemas.openxmlformats.org/drawingml/2006/main">
            <a:off x="11287125" y="14382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55E00"/>
                </a:solidFill>
                <a:latin typeface="Arial"/>
                <a:ea typeface="Arial"/>
                <a:cs typeface="Arial"/>
              </a:defRPr>
            </a:pPr>
            <a:r>
              <a:rPr sz="1500" b="1">
                <a:solidFill>
                  <a:srgbClr val="D55E00"/>
                </a:solidFill>
                <a:latin typeface="Arial"/>
                <a:ea typeface="Arial"/>
                <a:cs typeface="Arial"/>
              </a:rPr>
              <a:t>○  NCSCAL 4 / warmup 0</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d906082c8ea4503"/>
          <a:stretch xmlns:a="http://schemas.openxmlformats.org/drawingml/2006/main"/>
        </p:blipFill>
        <p:spPr>
          <a:xfrm xmlns:a="http://schemas.openxmlformats.org/drawingml/2006/main">
            <a:off x="290513" y="1819275"/>
            <a:ext cx="14620875" cy="5848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BBDA809-012A-4AF7-8593-9D3F26470B5F}"/>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Star: source equilibrium. Hollow diamond: fitted baseline pressure at source q/shear. ×: solver reports nonconvergence.</a:t>
            </a:r>
          </a:p>
        </p:txBody>
      </p:sp>
      <p:sp>
        <p:nvSpPr>
          <p:cNvPr id="10" name="">
            <a:extLst xmlns:a="http://schemas.openxmlformats.org/drawingml/2006/main">
              <a:ext uri="{FF2B5EF4-FFF2-40B4-BE49-F238E27FC236}">
                <a16:creationId xmlns:a16="http://schemas.microsoft.com/office/drawing/2014/main" id="{F1C5147F-8F20-4DB0-9819-9D29E1CE2709}"/>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9/14</a:t>
            </a:r>
          </a:p>
        </p:txBody>
      </p:sp>
      <p:sp>
        <p:nvSpPr>
          <p:cNvPr id="11" name="">
            <a:extLst xmlns:a="http://schemas.openxmlformats.org/drawingml/2006/main">
              <a:ext uri="{FF2B5EF4-FFF2-40B4-BE49-F238E27FC236}">
                <a16:creationId xmlns:a16="http://schemas.microsoft.com/office/drawing/2014/main" id="{8CEF7349-5127-4690-BF54-0BBD04948BC6}"/>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*NCSCAL=1 inferred from preset. Mixing, tolerances and sampled scales also differ across campaigns.</a:t>
            </a:r>
          </a:p>
        </p:txBody>
      </p:sp>
    </p:spTree>
    <p:extLst>
      <p:ext uri="{BB962C8B-B14F-4D97-AF65-F5344CB8AC3E}">
        <p14:creationId xmlns:p14="http://schemas.microsoft.com/office/powerpoint/2010/main" val="11040454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021929-D44A-42EA-BED4-A429BA7E7DDA}"/>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23BB1"/>
                </a:solidFill>
                <a:latin typeface="Arial"/>
                <a:ea typeface="Arial"/>
                <a:cs typeface="Arial"/>
              </a:defRPr>
            </a:pPr>
            <a:r>
              <a:rPr sz="2400" b="1">
                <a:solidFill>
                  <a:srgbClr val="A23BB1"/>
                </a:solidFill>
                <a:latin typeface="Arial"/>
                <a:ea typeface="Arial"/>
                <a:cs typeface="Arial"/>
              </a:rPr>
              <a:t>129015   apply_omX   NCSCAL = 4, warmup = 2</a:t>
            </a:r>
          </a:p>
        </p:txBody>
      </p:sp>
      <p:sp>
        <p:nvSpPr>
          <p:cNvPr id="2" name="">
            <a:extLst xmlns:a="http://schemas.openxmlformats.org/drawingml/2006/main">
              <a:ext uri="{FF2B5EF4-FFF2-40B4-BE49-F238E27FC236}">
                <a16:creationId xmlns:a16="http://schemas.microsoft.com/office/drawing/2014/main" id="{0033292F-0E7C-4283-AE85-5BE9B8F073C1}"/>
              </a:ext>
            </a:extLst>
          </p:cNvPr>
          <p:cNvSpPr>
            <a:spLocks xmlns:a="http://schemas.openxmlformats.org/drawingml/2006/main" noGrp="1"/>
          </p:cNvSpPr>
          <p:nvPr/>
        </p:nvSpPr>
        <p:spPr>
          <a:xfrm xmlns:a="http://schemas.openxmlformats.org/drawingml/2006/main">
            <a:off x="257175" y="581025"/>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Transformations and error traces     6 runs     I-star mix 0.05     Ip tolerance 0.2%     BS/q tolerance 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d9f99168e614b57"/>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3514B2-938A-408A-99D8-BA455A52A45E}"/>
              </a:ext>
            </a:extLst>
          </p:cNvPr>
          <p:cNvSpPr>
            <a:spLocks xmlns:a="http://schemas.openxmlformats.org/drawingml/2006/main" noGrp="1"/>
          </p:cNvSpPr>
          <p:nvPr/>
        </p:nvSpPr>
        <p:spPr>
          <a:xfrm xmlns:a="http://schemas.openxmlformats.org/drawingml/2006/main">
            <a:off x="238125" y="14192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Saved transformation profiles</a:t>
            </a:r>
          </a:p>
        </p:txBody>
      </p:sp>
      <p:sp>
        <p:nvSpPr>
          <p:cNvPr id="5" name="">
            <a:extLst xmlns:a="http://schemas.openxmlformats.org/drawingml/2006/main">
              <a:ext uri="{FF2B5EF4-FFF2-40B4-BE49-F238E27FC236}">
                <a16:creationId xmlns:a16="http://schemas.microsoft.com/office/drawing/2014/main" id="{797C1E64-5DEB-451D-9AAA-C1F38F75C7D1}"/>
              </a:ext>
            </a:extLst>
          </p:cNvPr>
          <p:cNvSpPr>
            <a:spLocks xmlns:a="http://schemas.openxmlformats.org/drawingml/2006/main" noGrp="1"/>
          </p:cNvSpPr>
          <p:nvPr/>
        </p:nvSpPr>
        <p:spPr>
          <a:xfrm xmlns:a="http://schemas.openxmlformats.org/drawingml/2006/main">
            <a:off x="7524750" y="1419225"/>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Iteration errors (relative fractions)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1a07e2e22334a88"/>
          <a:stretch xmlns:a="http://schemas.openxmlformats.org/drawingml/2006/main"/>
        </p:blipFill>
        <p:spPr>
          <a:xfrm xmlns:a="http://schemas.openxmlformats.org/drawingml/2006/main">
            <a:off x="714375" y="1790700"/>
            <a:ext cx="5715000" cy="2857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63906ec26fc4b42"/>
          <a:stretch xmlns:a="http://schemas.openxmlformats.org/drawingml/2006/main"/>
        </p:blipFill>
        <p:spPr>
          <a:xfrm xmlns:a="http://schemas.openxmlformats.org/drawingml/2006/main">
            <a:off x="714375" y="4762500"/>
            <a:ext cx="5715000" cy="28575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2b563e71fa14d71"/>
          <a:stretch xmlns:a="http://schemas.openxmlformats.org/drawingml/2006/main"/>
        </p:blipFill>
        <p:spPr>
          <a:xfrm xmlns:a="http://schemas.openxmlformats.org/drawingml/2006/main">
            <a:off x="7478526" y="1762125"/>
            <a:ext cx="7236199" cy="6000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797B9AB-7A1F-4E63-9795-520F39E44ED3}"/>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One color per scaling type/factor across all plots. Profiles: solid electrons, dashed ions where shown. Black curves: reference profiles.</a:t>
            </a:r>
          </a:p>
        </p:txBody>
      </p:sp>
      <p:sp>
        <p:nvSpPr>
          <p:cNvPr id="10" name="">
            <a:extLst xmlns:a="http://schemas.openxmlformats.org/drawingml/2006/main">
              <a:ext uri="{FF2B5EF4-FFF2-40B4-BE49-F238E27FC236}">
                <a16:creationId xmlns:a16="http://schemas.microsoft.com/office/drawing/2014/main" id="{D2F1806E-BBE2-4C25-B9A6-A31AC72978BB}"/>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10/14</a:t>
            </a:r>
          </a:p>
        </p:txBody>
      </p:sp>
      <p:sp>
        <p:nvSpPr>
          <p:cNvPr id="11" name="">
            <a:extLst xmlns:a="http://schemas.openxmlformats.org/drawingml/2006/main">
              <a:ext uri="{FF2B5EF4-FFF2-40B4-BE49-F238E27FC236}">
                <a16:creationId xmlns:a16="http://schemas.microsoft.com/office/drawing/2014/main" id="{D80CAC1B-632D-4DA9-8A77-3C0446AE8570}"/>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Amplitude change may be set to zero by the stopping rule. BS/q traces measure successive change.</a:t>
            </a:r>
          </a:p>
        </p:txBody>
      </p:sp>
    </p:spTree>
    <p:extLst>
      <p:ext uri="{BB962C8B-B14F-4D97-AF65-F5344CB8AC3E}">
        <p14:creationId xmlns:p14="http://schemas.microsoft.com/office/powerpoint/2010/main" val="12356113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7EBDA4-70D8-4646-8A34-10589FC67A86}"/>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23BB1"/>
                </a:solidFill>
                <a:latin typeface="Arial"/>
                <a:ea typeface="Arial"/>
                <a:cs typeface="Arial"/>
              </a:defRPr>
            </a:pPr>
            <a:r>
              <a:rPr sz="2400" b="1">
                <a:solidFill>
                  <a:srgbClr val="A23BB1"/>
                </a:solidFill>
                <a:latin typeface="Arial"/>
                <a:ea typeface="Arial"/>
                <a:cs typeface="Arial"/>
              </a:rPr>
              <a:t>129015   apply_omX   NCSCAL = 4, warmup = 2</a:t>
            </a:r>
          </a:p>
        </p:txBody>
      </p:sp>
      <p:sp>
        <p:nvSpPr>
          <p:cNvPr id="2" name="">
            <a:extLst xmlns:a="http://schemas.openxmlformats.org/drawingml/2006/main">
              <a:ext uri="{FF2B5EF4-FFF2-40B4-BE49-F238E27FC236}">
                <a16:creationId xmlns:a16="http://schemas.microsoft.com/office/drawing/2014/main" id="{4DACAB24-BD49-430F-BD84-7E559F9C79CE}"/>
              </a:ext>
            </a:extLst>
          </p:cNvPr>
          <p:cNvSpPr>
            <a:spLocks xmlns:a="http://schemas.openxmlformats.org/drawingml/2006/main" noGrp="1"/>
          </p:cNvSpPr>
          <p:nvPr/>
        </p:nvSpPr>
        <p:spPr>
          <a:xfrm xmlns:a="http://schemas.openxmlformats.org/drawingml/2006/main">
            <a:off x="257175" y="581025"/>
            <a:ext cx="1466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Iteration counts and pressure response     6 runs     Bars label the number of iterations, including 00     Hatched bars / × = nonconverged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dfddeb29c9e4930"/>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a5a098bc5e0410e"/>
          <a:stretch xmlns:a="http://schemas.openxmlformats.org/drawingml/2006/main"/>
        </p:blipFill>
        <p:spPr>
          <a:xfrm xmlns:a="http://schemas.openxmlformats.org/drawingml/2006/main">
            <a:off x="1528763" y="1390650"/>
            <a:ext cx="12144375" cy="1657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5151e339b184c7b"/>
          <a:stretch xmlns:a="http://schemas.openxmlformats.org/drawingml/2006/main"/>
        </p:blipFill>
        <p:spPr>
          <a:xfrm xmlns:a="http://schemas.openxmlformats.org/drawingml/2006/main">
            <a:off x="1564481" y="3067050"/>
            <a:ext cx="12072938" cy="4829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F966B94-3B66-409A-9040-193A77BA8377}"/>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Pressure chains: q and shear versus solved pressure / source pressure at the three Chapman points. Lines join each scaling type separately.</a:t>
            </a:r>
          </a:p>
        </p:txBody>
      </p:sp>
      <p:sp>
        <p:nvSpPr>
          <p:cNvPr id="7" name="">
            <a:extLst xmlns:a="http://schemas.openxmlformats.org/drawingml/2006/main">
              <a:ext uri="{FF2B5EF4-FFF2-40B4-BE49-F238E27FC236}">
                <a16:creationId xmlns:a16="http://schemas.microsoft.com/office/drawing/2014/main" id="{AA534983-523B-47D7-92DF-BA1536F26CF3}"/>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11/14</a:t>
            </a:r>
          </a:p>
        </p:txBody>
      </p:sp>
      <p:sp>
        <p:nvSpPr>
          <p:cNvPr id="8" name="">
            <a:extLst xmlns:a="http://schemas.openxmlformats.org/drawingml/2006/main">
              <a:ext uri="{FF2B5EF4-FFF2-40B4-BE49-F238E27FC236}">
                <a16:creationId xmlns:a16="http://schemas.microsoft.com/office/drawing/2014/main" id="{13C30AF3-B98B-4355-8149-C9A326AED626}"/>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Star: source equilibrium. Hollow diamond: fitted baseline pressure at source q/shear.</a:t>
            </a:r>
          </a:p>
        </p:txBody>
      </p:sp>
    </p:spTree>
    <p:extLst>
      <p:ext uri="{BB962C8B-B14F-4D97-AF65-F5344CB8AC3E}">
        <p14:creationId xmlns:p14="http://schemas.microsoft.com/office/powerpoint/2010/main" val="13710391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F1C9CD-8F14-4908-9DC4-991C51B90055}"/>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55E00"/>
                </a:solidFill>
                <a:latin typeface="Arial"/>
                <a:ea typeface="Arial"/>
                <a:cs typeface="Arial"/>
              </a:defRPr>
            </a:pPr>
            <a:r>
              <a:rPr sz="2400" b="1">
                <a:solidFill>
                  <a:srgbClr val="D55E00"/>
                </a:solidFill>
                <a:latin typeface="Arial"/>
                <a:ea typeface="Arial"/>
                <a:cs typeface="Arial"/>
              </a:rPr>
              <a:t>129015   apply_omX   NCSCAL = 4, warmup = 0</a:t>
            </a:r>
          </a:p>
        </p:txBody>
      </p:sp>
      <p:sp>
        <p:nvSpPr>
          <p:cNvPr id="2" name="">
            <a:extLst xmlns:a="http://schemas.openxmlformats.org/drawingml/2006/main">
              <a:ext uri="{FF2B5EF4-FFF2-40B4-BE49-F238E27FC236}">
                <a16:creationId xmlns:a16="http://schemas.microsoft.com/office/drawing/2014/main" id="{9F397610-9FE0-4625-B0A0-624366734BBB}"/>
              </a:ext>
            </a:extLst>
          </p:cNvPr>
          <p:cNvSpPr>
            <a:spLocks xmlns:a="http://schemas.openxmlformats.org/drawingml/2006/main" noGrp="1"/>
          </p:cNvSpPr>
          <p:nvPr/>
        </p:nvSpPr>
        <p:spPr>
          <a:xfrm xmlns:a="http://schemas.openxmlformats.org/drawingml/2006/main">
            <a:off x="257175" y="581025"/>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Transformations and error traces     9 runs     I-star mix 0.05     Ip tolerance 0.2%     BS/q tolerance 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ba480e016134a80"/>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0CD3F9-433D-4B8F-A320-38B471FDCA70}"/>
              </a:ext>
            </a:extLst>
          </p:cNvPr>
          <p:cNvSpPr>
            <a:spLocks xmlns:a="http://schemas.openxmlformats.org/drawingml/2006/main" noGrp="1"/>
          </p:cNvSpPr>
          <p:nvPr/>
        </p:nvSpPr>
        <p:spPr>
          <a:xfrm xmlns:a="http://schemas.openxmlformats.org/drawingml/2006/main">
            <a:off x="238125" y="14192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Saved transformation profiles</a:t>
            </a:r>
          </a:p>
        </p:txBody>
      </p:sp>
      <p:sp>
        <p:nvSpPr>
          <p:cNvPr id="5" name="">
            <a:extLst xmlns:a="http://schemas.openxmlformats.org/drawingml/2006/main">
              <a:ext uri="{FF2B5EF4-FFF2-40B4-BE49-F238E27FC236}">
                <a16:creationId xmlns:a16="http://schemas.microsoft.com/office/drawing/2014/main" id="{4531C75C-69BA-42BF-9E3E-3F1F845F6578}"/>
              </a:ext>
            </a:extLst>
          </p:cNvPr>
          <p:cNvSpPr>
            <a:spLocks xmlns:a="http://schemas.openxmlformats.org/drawingml/2006/main" noGrp="1"/>
          </p:cNvSpPr>
          <p:nvPr/>
        </p:nvSpPr>
        <p:spPr>
          <a:xfrm xmlns:a="http://schemas.openxmlformats.org/drawingml/2006/main">
            <a:off x="7524750" y="1419225"/>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63B"/>
                </a:solidFill>
                <a:latin typeface="Arial"/>
                <a:ea typeface="Arial"/>
                <a:cs typeface="Arial"/>
              </a:defRPr>
            </a:pPr>
            <a:r>
              <a:rPr sz="1650" b="1">
                <a:solidFill>
                  <a:srgbClr val="17263B"/>
                </a:solidFill>
                <a:latin typeface="Arial"/>
                <a:ea typeface="Arial"/>
                <a:cs typeface="Arial"/>
              </a:rPr>
              <a:t>Iteration errors (relative fractions)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ad58718f8ae4e3e"/>
          <a:stretch xmlns:a="http://schemas.openxmlformats.org/drawingml/2006/main"/>
        </p:blipFill>
        <p:spPr>
          <a:xfrm xmlns:a="http://schemas.openxmlformats.org/drawingml/2006/main">
            <a:off x="714375" y="1790700"/>
            <a:ext cx="5715000" cy="2857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8d13dab747e40b2"/>
          <a:stretch xmlns:a="http://schemas.openxmlformats.org/drawingml/2006/main"/>
        </p:blipFill>
        <p:spPr>
          <a:xfrm xmlns:a="http://schemas.openxmlformats.org/drawingml/2006/main">
            <a:off x="714375" y="4762500"/>
            <a:ext cx="5715000" cy="28575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249e6adf3bd4d26"/>
          <a:stretch xmlns:a="http://schemas.openxmlformats.org/drawingml/2006/main"/>
        </p:blipFill>
        <p:spPr>
          <a:xfrm xmlns:a="http://schemas.openxmlformats.org/drawingml/2006/main">
            <a:off x="7478526" y="1762125"/>
            <a:ext cx="7236199" cy="6000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88E8320-4182-4DBB-B1AC-3ACB1A5B796D}"/>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One color per scaling type/factor across all plots. Profiles: solid electrons, dashed ions where shown. Black curves: reference profiles.</a:t>
            </a:r>
          </a:p>
        </p:txBody>
      </p:sp>
      <p:sp>
        <p:nvSpPr>
          <p:cNvPr id="10" name="">
            <a:extLst xmlns:a="http://schemas.openxmlformats.org/drawingml/2006/main">
              <a:ext uri="{FF2B5EF4-FFF2-40B4-BE49-F238E27FC236}">
                <a16:creationId xmlns:a16="http://schemas.microsoft.com/office/drawing/2014/main" id="{CB3D3FBB-D099-44BB-B27E-4626A98E46C0}"/>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12/14</a:t>
            </a:r>
          </a:p>
        </p:txBody>
      </p:sp>
      <p:sp>
        <p:nvSpPr>
          <p:cNvPr id="11" name="">
            <a:extLst xmlns:a="http://schemas.openxmlformats.org/drawingml/2006/main">
              <a:ext uri="{FF2B5EF4-FFF2-40B4-BE49-F238E27FC236}">
                <a16:creationId xmlns:a16="http://schemas.microsoft.com/office/drawing/2014/main" id="{D17BD7C5-9B9E-4262-8BAB-C9DC6C096DFE}"/>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Amplitude change may be set to zero by the stopping rule. BS/q traces measure successive change.</a:t>
            </a:r>
          </a:p>
        </p:txBody>
      </p:sp>
    </p:spTree>
    <p:extLst>
      <p:ext uri="{BB962C8B-B14F-4D97-AF65-F5344CB8AC3E}">
        <p14:creationId xmlns:p14="http://schemas.microsoft.com/office/powerpoint/2010/main" val="2444424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BED679-970A-43BB-B5F7-27FD7A742DBF}"/>
              </a:ext>
            </a:extLst>
          </p:cNvPr>
          <p:cNvSpPr>
            <a:spLocks xmlns:a="http://schemas.openxmlformats.org/drawingml/2006/main" noGrp="1"/>
          </p:cNvSpPr>
          <p:nvPr/>
        </p:nvSpPr>
        <p:spPr>
          <a:xfrm xmlns:a="http://schemas.openxmlformats.org/drawingml/2006/main">
            <a:off x="238125" y="133350"/>
            <a:ext cx="1471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55E00"/>
                </a:solidFill>
                <a:latin typeface="Arial"/>
                <a:ea typeface="Arial"/>
                <a:cs typeface="Arial"/>
              </a:defRPr>
            </a:pPr>
            <a:r>
              <a:rPr sz="2400" b="1">
                <a:solidFill>
                  <a:srgbClr val="D55E00"/>
                </a:solidFill>
                <a:latin typeface="Arial"/>
                <a:ea typeface="Arial"/>
                <a:cs typeface="Arial"/>
              </a:rPr>
              <a:t>129015   apply_omX   NCSCAL = 4, warmup = 0</a:t>
            </a:r>
          </a:p>
        </p:txBody>
      </p:sp>
      <p:sp>
        <p:nvSpPr>
          <p:cNvPr id="2" name="">
            <a:extLst xmlns:a="http://schemas.openxmlformats.org/drawingml/2006/main">
              <a:ext uri="{FF2B5EF4-FFF2-40B4-BE49-F238E27FC236}">
                <a16:creationId xmlns:a16="http://schemas.microsoft.com/office/drawing/2014/main" id="{587806ED-5C26-496F-B447-979515CB705E}"/>
              </a:ext>
            </a:extLst>
          </p:cNvPr>
          <p:cNvSpPr>
            <a:spLocks xmlns:a="http://schemas.openxmlformats.org/drawingml/2006/main" noGrp="1"/>
          </p:cNvSpPr>
          <p:nvPr/>
        </p:nvSpPr>
        <p:spPr>
          <a:xfrm xmlns:a="http://schemas.openxmlformats.org/drawingml/2006/main">
            <a:off x="257175" y="581025"/>
            <a:ext cx="1466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63B"/>
                </a:solidFill>
                <a:latin typeface="Arial"/>
                <a:ea typeface="Arial"/>
                <a:cs typeface="Arial"/>
              </a:defRPr>
            </a:pPr>
            <a:r>
              <a:rPr sz="1350" b="0">
                <a:solidFill>
                  <a:srgbClr val="17263B"/>
                </a:solidFill>
                <a:latin typeface="Arial"/>
                <a:ea typeface="Arial"/>
                <a:cs typeface="Arial"/>
              </a:rPr>
              <a:t>Iteration counts and pressure response     9 runs     Bars label the number of iterations, including 00     Hatched bars / × = nonconverged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b96e429f1b04d00"/>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eaf8f3e90df49c4"/>
          <a:stretch xmlns:a="http://schemas.openxmlformats.org/drawingml/2006/main"/>
        </p:blipFill>
        <p:spPr>
          <a:xfrm xmlns:a="http://schemas.openxmlformats.org/drawingml/2006/main">
            <a:off x="1528763" y="1390650"/>
            <a:ext cx="12144375" cy="1657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6e62b9eb5fa4b6c"/>
          <a:stretch xmlns:a="http://schemas.openxmlformats.org/drawingml/2006/main"/>
        </p:blipFill>
        <p:spPr>
          <a:xfrm xmlns:a="http://schemas.openxmlformats.org/drawingml/2006/main">
            <a:off x="1564481" y="3067050"/>
            <a:ext cx="12072938" cy="4829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425538A-8B92-4FE0-BB46-FB3829D66F4A}"/>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Pressure chains: q and shear versus solved pressure / source pressure at the three Chapman points. Lines join each scaling type separately.</a:t>
            </a:r>
          </a:p>
        </p:txBody>
      </p:sp>
      <p:sp>
        <p:nvSpPr>
          <p:cNvPr id="7" name="">
            <a:extLst xmlns:a="http://schemas.openxmlformats.org/drawingml/2006/main">
              <a:ext uri="{FF2B5EF4-FFF2-40B4-BE49-F238E27FC236}">
                <a16:creationId xmlns:a16="http://schemas.microsoft.com/office/drawing/2014/main" id="{EF49A22B-B021-4D30-ACA9-A2D0A625A540}"/>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13/14</a:t>
            </a:r>
          </a:p>
        </p:txBody>
      </p:sp>
      <p:sp>
        <p:nvSpPr>
          <p:cNvPr id="8" name="">
            <a:extLst xmlns:a="http://schemas.openxmlformats.org/drawingml/2006/main">
              <a:ext uri="{FF2B5EF4-FFF2-40B4-BE49-F238E27FC236}">
                <a16:creationId xmlns:a16="http://schemas.microsoft.com/office/drawing/2014/main" id="{7237DD3C-3D5F-4C27-AE2E-92A52B738D7E}"/>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Star: source equilibrium. Hollow diamond: fitted baseline pressure at source q/shear.</a:t>
            </a:r>
          </a:p>
        </p:txBody>
      </p:sp>
    </p:spTree>
    <p:extLst>
      <p:ext uri="{BB962C8B-B14F-4D97-AF65-F5344CB8AC3E}">
        <p14:creationId xmlns:p14="http://schemas.microsoft.com/office/powerpoint/2010/main" val="3538190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DDA2B0-5723-4023-9A6E-2A3DCDE274B7}"/>
              </a:ext>
            </a:extLst>
          </p:cNvPr>
          <p:cNvSpPr>
            <a:spLocks xmlns:a="http://schemas.openxmlformats.org/drawingml/2006/main" noGrp="1"/>
          </p:cNvSpPr>
          <p:nvPr/>
        </p:nvSpPr>
        <p:spPr>
          <a:xfrm xmlns:a="http://schemas.openxmlformats.org/drawingml/2006/main">
            <a:off x="238125" y="133350"/>
            <a:ext cx="1466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63B"/>
                </a:solidFill>
                <a:latin typeface="Arial"/>
                <a:ea typeface="Arial"/>
                <a:cs typeface="Arial"/>
              </a:defRPr>
            </a:pPr>
            <a:r>
              <a:rPr sz="2400" b="1">
                <a:solidFill>
                  <a:srgbClr val="17263B"/>
                </a:solidFill>
                <a:latin typeface="Arial"/>
                <a:ea typeface="Arial"/>
                <a:cs typeface="Arial"/>
              </a:rPr>
              <a:t>129015   apply_omX pressure chains across solver variants</a:t>
            </a:r>
          </a:p>
        </p:txBody>
      </p:sp>
      <p:sp>
        <p:nvSpPr>
          <p:cNvPr id="2" name="">
            <a:extLst xmlns:a="http://schemas.openxmlformats.org/drawingml/2006/main">
              <a:ext uri="{FF2B5EF4-FFF2-40B4-BE49-F238E27FC236}">
                <a16:creationId xmlns:a16="http://schemas.microsoft.com/office/drawing/2014/main" id="{757F2487-47D2-4320-898F-36C4729CCA72}"/>
              </a:ext>
            </a:extLst>
          </p:cNvPr>
          <p:cNvSpPr>
            <a:spLocks xmlns:a="http://schemas.openxmlformats.org/drawingml/2006/main" noGrp="1"/>
          </p:cNvSpPr>
          <p:nvPr/>
        </p:nvSpPr>
        <p:spPr>
          <a:xfrm xmlns:a="http://schemas.openxmlformats.org/drawingml/2006/main">
            <a:off x="257175" y="590550"/>
            <a:ext cx="1462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63B"/>
                </a:solidFill>
                <a:latin typeface="Arial"/>
                <a:ea typeface="Arial"/>
                <a:cs typeface="Arial"/>
              </a:defRPr>
            </a:pPr>
            <a:r>
              <a:rPr sz="1425" b="0">
                <a:solidFill>
                  <a:srgbClr val="17263B"/>
                </a:solidFill>
                <a:latin typeface="Arial"/>
                <a:ea typeface="Arial"/>
                <a:cs typeface="Arial"/>
              </a:rPr>
              <a:t>Marker border identifies the solver variant. Marker fill matches that scaling type/factor in every profile, trace and bar.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85be3d72944db2"/>
          <a:stretch xmlns:a="http://schemas.openxmlformats.org/drawingml/2006/main"/>
        </p:blipFill>
        <p:spPr>
          <a:xfrm xmlns:a="http://schemas.openxmlformats.org/drawingml/2006/main">
            <a:off x="1980165" y="895350"/>
            <a:ext cx="11193946" cy="50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66E6A6-ECF5-4F73-901B-83EBF2051B5D}"/>
              </a:ext>
            </a:extLst>
          </p:cNvPr>
          <p:cNvSpPr>
            <a:spLocks xmlns:a="http://schemas.openxmlformats.org/drawingml/2006/main" noGrp="1"/>
          </p:cNvSpPr>
          <p:nvPr/>
        </p:nvSpPr>
        <p:spPr>
          <a:xfrm xmlns:a="http://schemas.openxmlformats.org/drawingml/2006/main">
            <a:off x="285750" y="143827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23BB1"/>
                </a:solidFill>
                <a:latin typeface="Arial"/>
                <a:ea typeface="Arial"/>
                <a:cs typeface="Arial"/>
              </a:defRPr>
            </a:pPr>
            <a:r>
              <a:rPr sz="1500" b="1">
                <a:solidFill>
                  <a:srgbClr val="A23BB1"/>
                </a:solidFill>
                <a:latin typeface="Arial"/>
                <a:ea typeface="Arial"/>
                <a:cs typeface="Arial"/>
              </a:rPr>
              <a:t>○  NCSCAL 4 / warmup 2</a:t>
            </a:r>
          </a:p>
        </p:txBody>
      </p:sp>
      <p:sp>
        <p:nvSpPr>
          <p:cNvPr id="5" name="">
            <a:extLst xmlns:a="http://schemas.openxmlformats.org/drawingml/2006/main">
              <a:ext uri="{FF2B5EF4-FFF2-40B4-BE49-F238E27FC236}">
                <a16:creationId xmlns:a16="http://schemas.microsoft.com/office/drawing/2014/main" id="{7E0E4854-2141-4350-919C-935C66144523}"/>
              </a:ext>
            </a:extLst>
          </p:cNvPr>
          <p:cNvSpPr>
            <a:spLocks xmlns:a="http://schemas.openxmlformats.org/drawingml/2006/main" noGrp="1"/>
          </p:cNvSpPr>
          <p:nvPr/>
        </p:nvSpPr>
        <p:spPr>
          <a:xfrm xmlns:a="http://schemas.openxmlformats.org/drawingml/2006/main">
            <a:off x="7620000" y="143827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55E00"/>
                </a:solidFill>
                <a:latin typeface="Arial"/>
                <a:ea typeface="Arial"/>
                <a:cs typeface="Arial"/>
              </a:defRPr>
            </a:pPr>
            <a:r>
              <a:rPr sz="1500" b="1">
                <a:solidFill>
                  <a:srgbClr val="D55E00"/>
                </a:solidFill>
                <a:latin typeface="Arial"/>
                <a:ea typeface="Arial"/>
                <a:cs typeface="Arial"/>
              </a:rPr>
              <a:t>○  NCSCAL 4 / warmup 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b20f80c66e543e2"/>
          <a:stretch xmlns:a="http://schemas.openxmlformats.org/drawingml/2006/main"/>
        </p:blipFill>
        <p:spPr>
          <a:xfrm xmlns:a="http://schemas.openxmlformats.org/drawingml/2006/main">
            <a:off x="290513" y="1819275"/>
            <a:ext cx="14620875" cy="5848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B1FA6BF-1841-48C0-A1CC-18F8C34F0DDE}"/>
              </a:ext>
            </a:extLst>
          </p:cNvPr>
          <p:cNvSpPr>
            <a:spLocks xmlns:a="http://schemas.openxmlformats.org/drawingml/2006/main" noGrp="1"/>
          </p:cNvSpPr>
          <p:nvPr/>
        </p:nvSpPr>
        <p:spPr>
          <a:xfrm xmlns:a="http://schemas.openxmlformats.org/drawingml/2006/main">
            <a:off x="238125" y="7991475"/>
            <a:ext cx="1462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6616F"/>
                </a:solidFill>
                <a:latin typeface="Arial"/>
                <a:ea typeface="Arial"/>
                <a:cs typeface="Arial"/>
              </a:defRPr>
            </a:pPr>
            <a:r>
              <a:rPr sz="1125" b="0">
                <a:solidFill>
                  <a:srgbClr val="56616F"/>
                </a:solidFill>
                <a:latin typeface="Arial"/>
                <a:ea typeface="Arial"/>
                <a:cs typeface="Arial"/>
              </a:rPr>
              <a:t>Star: source equilibrium. Hollow diamond: fitted baseline pressure at source q/shear. ×: solver reports nonconvergence.</a:t>
            </a:r>
          </a:p>
        </p:txBody>
      </p:sp>
      <p:sp>
        <p:nvSpPr>
          <p:cNvPr id="8" name="">
            <a:extLst xmlns:a="http://schemas.openxmlformats.org/drawingml/2006/main">
              <a:ext uri="{FF2B5EF4-FFF2-40B4-BE49-F238E27FC236}">
                <a16:creationId xmlns:a16="http://schemas.microsoft.com/office/drawing/2014/main" id="{885F9670-42AA-495D-A7CD-54AE8A07072C}"/>
              </a:ext>
            </a:extLst>
          </p:cNvPr>
          <p:cNvSpPr>
            <a:spLocks xmlns:a="http://schemas.openxmlformats.org/drawingml/2006/main" noGrp="1"/>
          </p:cNvSpPr>
          <p:nvPr/>
        </p:nvSpPr>
        <p:spPr>
          <a:xfrm xmlns:a="http://schemas.openxmlformats.org/drawingml/2006/main">
            <a:off x="14478000" y="8277225"/>
            <a:ext cx="619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14/14</a:t>
            </a:r>
          </a:p>
        </p:txBody>
      </p:sp>
      <p:sp>
        <p:nvSpPr>
          <p:cNvPr id="9" name="">
            <a:extLst xmlns:a="http://schemas.openxmlformats.org/drawingml/2006/main">
              <a:ext uri="{FF2B5EF4-FFF2-40B4-BE49-F238E27FC236}">
                <a16:creationId xmlns:a16="http://schemas.microsoft.com/office/drawing/2014/main" id="{A6E7B773-08B4-44C0-9C0F-9C5F09DA7980}"/>
              </a:ext>
            </a:extLst>
          </p:cNvPr>
          <p:cNvSpPr>
            <a:spLocks xmlns:a="http://schemas.openxmlformats.org/drawingml/2006/main" noGrp="1"/>
          </p:cNvSpPr>
          <p:nvPr/>
        </p:nvSpPr>
        <p:spPr>
          <a:xfrm xmlns:a="http://schemas.openxmlformats.org/drawingml/2006/main">
            <a:off x="238125" y="8267700"/>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6616F"/>
                </a:solidFill>
                <a:latin typeface="Arial"/>
                <a:ea typeface="Arial"/>
                <a:cs typeface="Arial"/>
              </a:defRPr>
            </a:pPr>
            <a:r>
              <a:rPr sz="975" b="0">
                <a:solidFill>
                  <a:srgbClr val="56616F"/>
                </a:solidFill>
                <a:latin typeface="Arial"/>
                <a:ea typeface="Arial"/>
                <a:cs typeface="Arial"/>
              </a:rPr>
              <a:t>Saved apply_omX coverage is NCSCAL=4 only. No NCSCAL=1 apply_omX runs were available in these campaigns.</a:t>
            </a:r>
          </a:p>
        </p:txBody>
      </p:sp>
    </p:spTree>
    <p:extLst>
      <p:ext uri="{BB962C8B-B14F-4D97-AF65-F5344CB8AC3E}">
        <p14:creationId xmlns:p14="http://schemas.microsoft.com/office/powerpoint/2010/main" val="11798693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2026-09-25T05:13:13.2460000Z</dcterms:created>
  <dcterms:modified xsi:type="dcterms:W3CDTF">2026-09-25T05:13:13.2460000Z</dcterms:modified>
</coreProperties>
</file>